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e0455e987449f" /><Relationship Type="http://schemas.openxmlformats.org/officeDocument/2006/relationships/extended-properties" Target="/docProps/app.xml" Id="Rfc326181b54b423d" /><Relationship Type="http://schemas.openxmlformats.org/officeDocument/2006/relationships/officeDocument" Target="/ppt/presentation.xml" Id="R041b5a1fe1e549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097947be4c48c2"/>
  </p:sldMasterIdLst>
  <p:notesMasterIdLst>
    <p:notesMasterId xmlns:r="http://schemas.openxmlformats.org/officeDocument/2006/relationships" r:id="R5ebfa41ab28f4888"/>
  </p:notesMasterIdLst>
  <p:sldIdLst>
    <p:sldId xmlns:r="http://schemas.openxmlformats.org/officeDocument/2006/relationships" id="256" r:id="Rbc92409681d549fd"/>
    <p:sldId xmlns:r="http://schemas.openxmlformats.org/officeDocument/2006/relationships" id="257" r:id="R3842c3a9d7df4a20"/>
    <p:sldId xmlns:r="http://schemas.openxmlformats.org/officeDocument/2006/relationships" id="258" r:id="Rc425971f91254b27"/>
    <p:sldId xmlns:r="http://schemas.openxmlformats.org/officeDocument/2006/relationships" id="259" r:id="Re16d68f0c85b4f64"/>
    <p:sldId xmlns:r="http://schemas.openxmlformats.org/officeDocument/2006/relationships" id="260" r:id="R954c6ed7510c4451"/>
    <p:sldId xmlns:r="http://schemas.openxmlformats.org/officeDocument/2006/relationships" id="261" r:id="R0d0dd2748a1d49ce"/>
    <p:sldId xmlns:r="http://schemas.openxmlformats.org/officeDocument/2006/relationships" id="262" r:id="R9ed8bbe9d4554b28"/>
    <p:sldId xmlns:r="http://schemas.openxmlformats.org/officeDocument/2006/relationships" id="263" r:id="Rcb67e40e79684ac2"/>
    <p:sldId xmlns:r="http://schemas.openxmlformats.org/officeDocument/2006/relationships" id="264" r:id="R145c8aabb3db47a4"/>
    <p:sldId xmlns:r="http://schemas.openxmlformats.org/officeDocument/2006/relationships" id="265" r:id="Rfc47db6b549646eb"/>
    <p:sldId xmlns:r="http://schemas.openxmlformats.org/officeDocument/2006/relationships" id="266" r:id="Rebb7233b0efd413a"/>
    <p:sldId xmlns:r="http://schemas.openxmlformats.org/officeDocument/2006/relationships" id="267" r:id="R344cbd99ac3149a1"/>
    <p:sldId xmlns:r="http://schemas.openxmlformats.org/officeDocument/2006/relationships" id="268" r:id="R5cb9e0a776484360"/>
    <p:sldId xmlns:r="http://schemas.openxmlformats.org/officeDocument/2006/relationships" id="269" r:id="R887f16cb204545de"/>
    <p:sldId xmlns:r="http://schemas.openxmlformats.org/officeDocument/2006/relationships" id="270" r:id="R86ca53b95723480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1b5bbf82f1406a" /><Relationship Type="http://schemas.openxmlformats.org/officeDocument/2006/relationships/slideMaster" Target="/ppt/slideMasters/slideMaster1.xml" Id="R37097947be4c48c2" /><Relationship Type="http://schemas.openxmlformats.org/officeDocument/2006/relationships/notesMaster" Target="/ppt/notesMasters/notesMaster1.xml" Id="R5ebfa41ab28f4888" /><Relationship Type="http://schemas.openxmlformats.org/officeDocument/2006/relationships/presProps" Target="/ppt/presProps.xml" Id="R22405ed353c24f05" /><Relationship Type="http://schemas.openxmlformats.org/officeDocument/2006/relationships/tableStyles" Target="/ppt/tableStyles.xml" Id="Racb1b104fe174c8f" /><Relationship Type="http://schemas.openxmlformats.org/officeDocument/2006/relationships/slide" Target="/ppt/slides/slide1.xml" Id="Rbc92409681d549fd" /><Relationship Type="http://schemas.openxmlformats.org/officeDocument/2006/relationships/slide" Target="/ppt/slides/slide2.xml" Id="R3842c3a9d7df4a20" /><Relationship Type="http://schemas.openxmlformats.org/officeDocument/2006/relationships/slide" Target="/ppt/slides/slide3.xml" Id="Rc425971f91254b27" /><Relationship Type="http://schemas.openxmlformats.org/officeDocument/2006/relationships/slide" Target="/ppt/slides/slide4.xml" Id="Re16d68f0c85b4f64" /><Relationship Type="http://schemas.openxmlformats.org/officeDocument/2006/relationships/slide" Target="/ppt/slides/slide5.xml" Id="R954c6ed7510c4451" /><Relationship Type="http://schemas.openxmlformats.org/officeDocument/2006/relationships/slide" Target="/ppt/slides/slide6.xml" Id="R0d0dd2748a1d49ce" /><Relationship Type="http://schemas.openxmlformats.org/officeDocument/2006/relationships/slide" Target="/ppt/slides/slide7.xml" Id="R9ed8bbe9d4554b28" /><Relationship Type="http://schemas.openxmlformats.org/officeDocument/2006/relationships/slide" Target="/ppt/slides/slide8.xml" Id="Rcb67e40e79684ac2" /><Relationship Type="http://schemas.openxmlformats.org/officeDocument/2006/relationships/slide" Target="/ppt/slides/slide9.xml" Id="R145c8aabb3db47a4" /><Relationship Type="http://schemas.openxmlformats.org/officeDocument/2006/relationships/slide" Target="/ppt/slides/slide10.xml" Id="Rfc47db6b549646eb" /><Relationship Type="http://schemas.openxmlformats.org/officeDocument/2006/relationships/slide" Target="/ppt/slides/slide11.xml" Id="Rebb7233b0efd413a" /><Relationship Type="http://schemas.openxmlformats.org/officeDocument/2006/relationships/slide" Target="/ppt/slides/slide12.xml" Id="R344cbd99ac3149a1" /><Relationship Type="http://schemas.openxmlformats.org/officeDocument/2006/relationships/slide" Target="/ppt/slides/slide13.xml" Id="R5cb9e0a776484360" /><Relationship Type="http://schemas.openxmlformats.org/officeDocument/2006/relationships/slide" Target="/ppt/slides/slide14.xml" Id="R887f16cb204545de" /><Relationship Type="http://schemas.openxmlformats.org/officeDocument/2006/relationships/slide" Target="/ppt/slides/slide15.xml" Id="R86ca53b95723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a14b6ce264a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609a3db2dd464f" /><Relationship Type="http://schemas.openxmlformats.org/officeDocument/2006/relationships/notesMaster" Target="/ppt/notesMasters/notesMaster1.xml" Id="R2c924e1b2feb4f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97671e4ad64089" /><Relationship Type="http://schemas.openxmlformats.org/officeDocument/2006/relationships/notesMaster" Target="/ppt/notesMasters/notesMaster1.xml" Id="Rb8076efaf50041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52b7eb17d049e4" /><Relationship Type="http://schemas.openxmlformats.org/officeDocument/2006/relationships/notesMaster" Target="/ppt/notesMasters/notesMaster1.xml" Id="R5eb452b0d1aa4c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1698dbbf3346f9" /><Relationship Type="http://schemas.openxmlformats.org/officeDocument/2006/relationships/notesMaster" Target="/ppt/notesMasters/notesMaster1.xml" Id="Rb38947d8fa3243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41a90275b74e97" /><Relationship Type="http://schemas.openxmlformats.org/officeDocument/2006/relationships/notesMaster" Target="/ppt/notesMasters/notesMaster1.xml" Id="R932283a386fd41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87c2ff30954b9c" /><Relationship Type="http://schemas.openxmlformats.org/officeDocument/2006/relationships/notesMaster" Target="/ppt/notesMasters/notesMaster1.xml" Id="R48a7134e261647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0d879238d343ca" /><Relationship Type="http://schemas.openxmlformats.org/officeDocument/2006/relationships/notesMaster" Target="/ppt/notesMasters/notesMaster1.xml" Id="R6bf0c64e04944a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209e5d3bb64ff5" /><Relationship Type="http://schemas.openxmlformats.org/officeDocument/2006/relationships/notesMaster" Target="/ppt/notesMasters/notesMaster1.xml" Id="Rc6911139acc842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52877d9ae74dd5" /><Relationship Type="http://schemas.openxmlformats.org/officeDocument/2006/relationships/notesMaster" Target="/ppt/notesMasters/notesMaster1.xml" Id="R6ff3a0a9b2584b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d9d3223f943e3" /><Relationship Type="http://schemas.openxmlformats.org/officeDocument/2006/relationships/notesMaster" Target="/ppt/notesMasters/notesMaster1.xml" Id="Rbe28877671e641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e245aa5a7b4886" /><Relationship Type="http://schemas.openxmlformats.org/officeDocument/2006/relationships/notesMaster" Target="/ppt/notesMasters/notesMaster1.xml" Id="Ref5ebed22c634f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addcc4292e4be4" /><Relationship Type="http://schemas.openxmlformats.org/officeDocument/2006/relationships/notesMaster" Target="/ppt/notesMasters/notesMaster1.xml" Id="R64db4dab9d86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6d0f2c0254495b" /><Relationship Type="http://schemas.openxmlformats.org/officeDocument/2006/relationships/notesMaster" Target="/ppt/notesMasters/notesMaster1.xml" Id="Rfe59d2006f5b40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42535e3c7242be" /><Relationship Type="http://schemas.openxmlformats.org/officeDocument/2006/relationships/notesMaster" Target="/ppt/notesMasters/notesMaster1.xml" Id="R69540b6e78f24a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b7374169e6480a" /><Relationship Type="http://schemas.openxmlformats.org/officeDocument/2006/relationships/notesMaster" Target="/ppt/notesMasters/notesMaster1.xml" Id="Rac37502a2629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Working team name confirmed by user. Final Arabic/English name, confirmed student/mentor roster with affiliations and contact details, team photo and team logo remain to be supplied. No identity or affiliation is invented. Result is 27.92% total RMSE reduction against coherent probes, at 10 nW/node, 1 s and assumed 50 µK common temperature residual. Source: results/summary.json. The supplied template says its presentation/demo guidance is for the in-person event; October ideation has no presentation. This deck is prepared for reuse and discussion.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 SDG Report 2025, Goal 6: https://unstats.un.org/sdgs/report/2025/Goal-06/ reports approximately two million measurements used for reporting, 60,000 from poorest regions. These are monitoring data, not all worldwide measurements. WHO 2023 fact sheet, 2022 data: https://www.who.int/news-room/fact-sheets/detail/drinking-water . EPA online monitoring: https://www.epa.gov/waterresilience/online-water-quality-monitoring-resources . These sources establish importance and monitoring use cases, not a quantum bottleneck or salt-based pathogen detection. Operator need for this dose and sensitivity is an assumption.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Quantum justification: 20%. This is a prediction for a proposed controlled instrument, not a measured water sensor. Optical RMSE .079619 vs .047583; total precision gain 1.387×. The ambitious common temperature residual is an engineering assumption. Probe photon accounting includes squeezed photons deducted from carrier power, but excludes pump and local oscillator energy.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results/summary.json pilot16. No measured-field accuracy claim. Common residual 50 microkelvin is an ambitious compensated bench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Fit uses M=33–64. Total squeezing Ns=.1M grows with M; fixed per-node carrier power also grows total probe energy. Ideal panel removes loss, phase jitter, technical errors and the 10 dB cap. It is not a forecast of field scaling. See figures/05_resource_accounting.png for fixed-total budgets and docs/MODEL.md. Consistent with qualified CV theory; no independent experimental proof.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Computed by src/model.py and results/summary.json. Per-node squeezed budget 0.1 photon/mode, total Ns=0.1 M; equal launched bright-plus-squeezed photon budgets. S4 asymptotic displacement model.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geometry is USGS-labelled input from the draft; no independent provenance or available fiber is established. Nearest 64 unique coordinates to assumed LA hub 34.05,-118.24; lengths 1.3×great-circle distances. Straight distances 3.5245–16.6434 km, mean routed length16.3847km. Fiber anchor .18dB/km, Corning AN2008. Changing M changes the sampled population. Coherent allocation F_i proportional to 1/sqrt(eta_i), relaxing individual power cap at fixed total photons. Source Ns capped2.025 photons/mode.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Water thermo-optic anchor https://opg.optica.org/abstract.cfm?uri=sensors-2012-STu1F.3 . At the NaCl slope, 1mK appears as .916mg/kg. 50µK controlled and10mK stress residuals are assumptions; neither is a manufacturer Gaussian noise claim. OU correlation60s. YSI temperature accuracy±.01C is contextual, not statistical conversion. Power sweep1nW–70µW in Figure10 independently tests a stronger classical alternative.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S10 reports dn/dT≈−1.485e−4 RIU/K at1550nm. The exact coefficient depends on temperature/composition. 0.05 mK and10 mK are assumed stochastic residuals, not manufacturer statistical specifications. Derived same-model comparison: results/practical_comparisons.json.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Analytic Gaussian ROC validated by100000 null and100000 alternative independent draws per strategy. This is marginal repeated-experiment validation, not an operational sequential detector. Temperature correlations, non-Gaussian tails and response lag require time-series validation. No regulatory threshold or guaranteed detection is implied. Measurable SDG6-related monitoring proxy, not measured environmental impact.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Offline demo: open figures/index.html and Figure07. Explain 16 different arrivals90–135s, mean amplitude.35mg/kg with±25% variation, rise25s, response10s,1s sampling. Shared thermal and calibration realization for both methods. Show Figure08 to change the discussion to loss/temperature limits, then Figure10 to challenge the low-power premise. No live hardware is represented. Stationary RMSE excludes transient lag bias.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NaCl: Saunders https://doi.org/10.1364/AO.55.000947 ; squeezing Mehmet https://arxiv.org/abs/1110.3737 ; fiber https://www.corning.com/media/worldwide/coc/documents/Fiber/application-notes/AN2008.pdf ; thermo-optic Kim https://opg.optica.org/abstract.cfm?uri=sensors-2012-STu1F.3 . Supplied Dowran https://doi.org/10.1364/OPTICA.5.000628 reports795nm199kHz air sensitivities8.6/6.8/5.5e-10RIU/sqrtHz; not transferable to1s1550nm water. Supplied Pooser/Lawrie PDF is supporting information of a separate paper. QML https://doi.org/10.3390/quantum8030060 ; matched RBF remains strong. Complete sources and each config parameter in docs/PROJECT_REPORT.md AppendixA.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Sustainability/scalability15%. Business model is a hypothesis; avoid unsupported market size or demand claims. Seek water operator and optical lab partnership, with a budget based on equipment quotations. Local calibration and infrastructure review required for UAE/Arab-region and other deployments. Data access, incident privacy, maintenance and confirmatory sampling are future product requirements. YSI EXO contextual comparator https://www.ysi.com/product/id-599870/exo-conductivity--temperature-smart-sensor ; accuracy bounds are not a fair ratio to simulated differential RMSE.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research stages, not completed work or promised dates. Full electrical meter includes pump, local oscillator, locking, electronics and classical compute. Acceptance proposal: RMSE ratio confidence interval below1 with prespecified budgets, then time-based false-alarm target agreed with operator. Need evidence10nW dose constraint matters; if higher-power coherent or conventional sensing achieves same goal with lower burden, prefer it. Organizer confirmation needed that quantum sensing satisfies the rubric’s quantum-computing focus.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closing three claims from judging guidance. All pilot claims use16nodes,10nW/node,1s,50µK common residual. Detection uses.15mg/kg increase and1% false alarm per decision. Optical energy160nJ is equal resources, not measured sustainability improvement. Algorithm is estimator accuracy, not quantum computational runtime. Next KPI: total joules per validated useful detection at matched coverage, false-alarm rate and response time. Results do not prove/disprove literature: conditional model consistency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references: Dowran2018 https://doi.org/10.1364/OPTICA.5.000628 ; Pooser/Lawrie supplied supporting information; Abraham-Mexicano2026 https://doi.org/10.3390/quantum8030060 ; Zhuang2018 https://arxiv.org/abs/1711.10459 ; Oh2020 https://doi.org/10.1103/PhysRevResearch.2.023030 ; Guo2020 https://arxiv.org/abs/1905.09408 ; Saunders2016 https://doi.org/10.1364/AO.55.000947 ; Mehmet2011 https://arxiv.org/abs/1110.3737 . Full parameter provenance, remaining Kim/Corning/YSI references and assumptions: docs/PROJECT_REPORT.md AppendixA. Seed2601006, results/summary.json,13validationchecks. Team photo, roster, affiliations, team logo and final bilingual name are pending; working nameTeam7 authorized. Supplied judging weights20/20/30/15/15 addressed through defined use case, classical baselines, explicit estimator, resource limits, and honest communication.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fc7ffef4544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99964178540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f3d56828e4f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63219ced14d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2b6913f2e48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ca7d2142542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b9ca225c240e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e7e9da3e6494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37454fb7648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4c0f6b17c4cc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9c334e942456d" /></Relationships>
</file>

<file path=ppt/slideLayouts/slideLayout1.xml><?xml version="1.0" encoding="utf-8"?>
<p:sldLayout xmlns:p="http://schemas.openxmlformats.org/presentationml/2006/main" matchingName="Diapositive de titr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4345710D-66FA-47EE-8978-C55E4B5C711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039C294-5D0F-4355-97BA-FA2942A7FE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457200" marR="0" indent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914400" marR="0" indent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371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18288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F8BE1DD5-E880-463B-A91E-3C103A25F6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C9A77CA8-4F71-4853-BFD3-3899937CFF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5EC14CBA-D35C-4AB7-A820-B93D134B80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re et contenu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576B63CD-9F5B-433B-ADC7-BD202CF3A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C552369D-0799-4209-B251-B85D3FFCD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F79C9618-8B54-4506-8BCF-B5975B293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2C48E8A6-AF91-40FF-928A-CCE19C39C7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6F4255EA-7443-4FF4-89B5-3D5C0577D4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En-tête de sectio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AD86C5BD-B480-461E-AF47-397A5A86D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5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6E0A1B8-93BC-4D5A-978B-4D7CABC2EE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6B099FD6-17D0-4AFA-81ED-CD388248D5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34571F27-2929-47A8-8169-D695D89F1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ECE7723-BAAA-4976-AE5B-4CACE99590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Deux contenu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467B0052-5563-4A98-B705-E03AF61BB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065C49C8-65DD-4309-9FDA-14350A65F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84088EB1-BD43-481A-996F-A3CCB3C0E5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42DF4CB6-7722-449B-BFCD-C15C58065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53C43CDB-AE90-449B-A534-B35A793B5C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83C120DB-DD21-48B9-93BB-B5365CF5A3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a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9DB8CB1E-9454-4CD6-870D-74FE389EA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74A480F1-10F2-4D6C-AD31-EC5957E0A0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4E262E01-A130-44FA-8F68-C0DE5B3DF3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631156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2F3F89EB-58D1-4415-B3D5-7B66552EDE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151335"/>
            <a:ext cx="4041775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7E2E79B5-F94C-4A0D-9B4D-4DCF577B3DD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1631156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171DFC34-C19A-42CB-940D-497B2D4411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64706F7E-8D7D-493D-A976-0D60C0E4A3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4B8463DA-DB69-4756-9010-C4277490E8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re seul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4DB7FEC9-3A0C-4995-B2F6-E4E078685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11C331AF-A3FC-4833-9701-49C17DF783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FB0EFBCE-1E22-48A0-82AA-DD62644CAF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00A776B0-55AC-43E6-938D-D645DC9A66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V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2E27B00F-A0EB-4829-8D62-965323508F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B5D03E7B-8BA7-4719-B441-198EDB4DD6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95886F53-6D9E-4979-AB2B-5D59D43F96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u avec légende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E78C580D-64BF-456B-AAA8-6D27C4DCD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4788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70554825-9D37-49FB-83C5-866B72DA9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04788"/>
            <a:ext cx="5111750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E61FB971-1324-4477-AC1B-FE4F93C2BF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076325"/>
            <a:ext cx="3008313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EFB5A23B-9828-43ED-AA45-2642D8B75B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58B5181C-F606-4C0B-AB4D-3BBCE91B9B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3ABF4431-D104-444E-9771-B75AD15BA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 avec légende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031EF1B7-498F-4862-A721-3F46402B2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2BC27816-5CB4-4786-BFAE-DE1019CF6A2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459581"/>
            <a:ext cx="54864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209EF913-4720-4F03-8E68-2D9A036F40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4025504"/>
            <a:ext cx="54864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976ABFFE-2AAC-4CFF-905A-7C05E09D0C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131EAF63-EEA9-403D-AAF9-7B3835D1EE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3E555E36-418B-4E51-9B7A-0C1C7FD3A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re et texte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52CE441B-6D6E-4721-9C44-D00725C21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4D0F89A9-A49B-452D-ACE7-02ECB921B4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874764" y="-1217414"/>
            <a:ext cx="3394472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5FDB5DA3-3652-406F-9C5D-075F3BFEAB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32FF15A0-5A15-43E9-AE11-912C8E6DD7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A3753B6F-B8E4-488A-A0F6-8250D8E8DF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re vertical et texte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C6851B4A-FF41-430D-B804-78D2BB26C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463778" y="1371600"/>
            <a:ext cx="438864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962579F0-0343-49EB-B5F7-A7B538487B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272778" y="-609599"/>
            <a:ext cx="4388644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24DD1D8F-235C-4CB2-9C63-FB919D582D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DFA0CC26-5017-4F02-961D-3DD5528833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2163155B-4230-4F52-BF95-9F65424F8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25816f6f3364cf0" /><Relationship Type="http://schemas.openxmlformats.org/officeDocument/2006/relationships/theme" Target="/ppt/slideMasters/theme/theme2.xml" Id="Rda59eb2a3dbc48a1" /><Relationship Type="http://schemas.openxmlformats.org/officeDocument/2006/relationships/slideLayout" Target="/ppt/slideLayouts/slideLayout1.xml" Id="R9c3eb3463277409b" /><Relationship Type="http://schemas.openxmlformats.org/officeDocument/2006/relationships/slideLayout" Target="/ppt/slideLayouts/slideLayout2.xml" Id="Rf84b7a3d56024157" /><Relationship Type="http://schemas.openxmlformats.org/officeDocument/2006/relationships/slideLayout" Target="/ppt/slideLayouts/slideLayout3.xml" Id="R89e43b4ed25f42dc" /><Relationship Type="http://schemas.openxmlformats.org/officeDocument/2006/relationships/slideLayout" Target="/ppt/slideLayouts/slideLayout4.xml" Id="R027840e382de43b6" /><Relationship Type="http://schemas.openxmlformats.org/officeDocument/2006/relationships/slideLayout" Target="/ppt/slideLayouts/slideLayout5.xml" Id="R0f75dcbc13d0425c" /><Relationship Type="http://schemas.openxmlformats.org/officeDocument/2006/relationships/slideLayout" Target="/ppt/slideLayouts/slideLayout6.xml" Id="R7d519a67b6c944c8" /><Relationship Type="http://schemas.openxmlformats.org/officeDocument/2006/relationships/slideLayout" Target="/ppt/slideLayouts/slideLayout7.xml" Id="Rc9702e9ce728431b" /><Relationship Type="http://schemas.openxmlformats.org/officeDocument/2006/relationships/slideLayout" Target="/ppt/slideLayouts/slideLayout8.xml" Id="Rf45822389ce54d1a" /><Relationship Type="http://schemas.openxmlformats.org/officeDocument/2006/relationships/slideLayout" Target="/ppt/slideLayouts/slideLayout9.xml" Id="R04c36e80c3904647" /><Relationship Type="http://schemas.openxmlformats.org/officeDocument/2006/relationships/slideLayout" Target="/ppt/slideLayouts/slideLayout10.xml" Id="Rb5c54c91991c48d4" /><Relationship Type="http://schemas.openxmlformats.org/officeDocument/2006/relationships/slideLayout" Target="/ppt/slideLayouts/slideLayout11.xml" Id="Rd28b3cad306d498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1EA74359-00A8-4C55-8640-020071079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DF98421-9C69-4969-AC16-06D1D2D527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marR="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marR="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6851178-2AE8-4E90-9552-A05262474F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B0958E9C-949F-4893-9175-8AA7608259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30A423AC-8BCD-4BAA-9D85-061C5ECC95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6850C06D-6EF9-47E9-9AB6-18AD8DDE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941" y="5056026"/>
            <a:ext cx="9180512" cy="108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06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Google Shape;12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816f6f3364cf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675" y="0"/>
            <a:ext cx="1188326" cy="579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3eb3463277409b"/>
    <p:sldLayoutId xmlns:r="http://schemas.openxmlformats.org/officeDocument/2006/relationships" id="2147483650" r:id="Rf84b7a3d56024157"/>
    <p:sldLayoutId xmlns:r="http://schemas.openxmlformats.org/officeDocument/2006/relationships" id="2147483651" r:id="R89e43b4ed25f42dc"/>
    <p:sldLayoutId xmlns:r="http://schemas.openxmlformats.org/officeDocument/2006/relationships" id="2147483652" r:id="R027840e382de43b6"/>
    <p:sldLayoutId xmlns:r="http://schemas.openxmlformats.org/officeDocument/2006/relationships" id="2147483653" r:id="R0f75dcbc13d0425c"/>
    <p:sldLayoutId xmlns:r="http://schemas.openxmlformats.org/officeDocument/2006/relationships" id="2147483654" r:id="R7d519a67b6c944c8"/>
    <p:sldLayoutId xmlns:r="http://schemas.openxmlformats.org/officeDocument/2006/relationships" id="2147483655" r:id="Rc9702e9ce728431b"/>
    <p:sldLayoutId xmlns:r="http://schemas.openxmlformats.org/officeDocument/2006/relationships" id="2147483656" r:id="Rf45822389ce54d1a"/>
    <p:sldLayoutId xmlns:r="http://schemas.openxmlformats.org/officeDocument/2006/relationships" id="2147483657" r:id="R04c36e80c3904647"/>
    <p:sldLayoutId xmlns:r="http://schemas.openxmlformats.org/officeDocument/2006/relationships" id="2147483658" r:id="Rb5c54c91991c48d4"/>
    <p:sldLayoutId xmlns:r="http://schemas.openxmlformats.org/officeDocument/2006/relationships" id="2147483659" r:id="Rd28b3cad306d498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fe3df9ef4369" /><Relationship Type="http://schemas.openxmlformats.org/officeDocument/2006/relationships/notesSlide" Target="/ppt/notesSlides/notesSlide1.xml" Id="R7cb76b0bfde14f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db164abeb4bc7" /><Relationship Type="http://schemas.openxmlformats.org/officeDocument/2006/relationships/notesSlide" Target="/ppt/notesSlides/notesSlide2.xml" Id="Re9036da7e8d54c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1e6ed80704f8a" /><Relationship Type="http://schemas.openxmlformats.org/officeDocument/2006/relationships/notesSlide" Target="/ppt/notesSlides/notesSlide3.xml" Id="Rb50f6644487d4d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4cc996a4b4603" /><Relationship Type="http://schemas.openxmlformats.org/officeDocument/2006/relationships/notesSlide" Target="/ppt/notesSlides/notesSlide4.xml" Id="R231158115f534d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39fb5c138409f" /><Relationship Type="http://schemas.openxmlformats.org/officeDocument/2006/relationships/chart" Target="/ppt/slides/charts/chart1.xml" Id="R70ee581b68274599" /><Relationship Type="http://schemas.openxmlformats.org/officeDocument/2006/relationships/notesSlide" Target="/ppt/notesSlides/notesSlide5.xml" Id="R5ace3e5417f34c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2ea3619d941a2" /><Relationship Type="http://schemas.openxmlformats.org/officeDocument/2006/relationships/chart" Target="/ppt/slides/charts/chart2.xml" Id="Rbf10036ffd12480d" /><Relationship Type="http://schemas.openxmlformats.org/officeDocument/2006/relationships/notesSlide" Target="/ppt/notesSlides/notesSlide6.xml" Id="R17deaa91055b4d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f61a7a1104b18" /><Relationship Type="http://schemas.openxmlformats.org/officeDocument/2006/relationships/chart" Target="/ppt/slides/charts/chart3.xml" Id="Rd40cd593339740bc" /><Relationship Type="http://schemas.openxmlformats.org/officeDocument/2006/relationships/notesSlide" Target="/ppt/notesSlides/notesSlide7.xml" Id="R9b20fc66bb094f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ba9ef68784af0" /><Relationship Type="http://schemas.openxmlformats.org/officeDocument/2006/relationships/chart" Target="/ppt/slides/charts/chart4.xml" Id="R77638644ff324f9f" /><Relationship Type="http://schemas.openxmlformats.org/officeDocument/2006/relationships/notesSlide" Target="/ppt/notesSlides/notesSlide8.xml" Id="Rf75f96e67dd249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8ac1a0ed64898" /><Relationship Type="http://schemas.openxmlformats.org/officeDocument/2006/relationships/chart" Target="/ppt/slides/charts/chart5.xml" Id="Rf653c03158cd419e" /><Relationship Type="http://schemas.openxmlformats.org/officeDocument/2006/relationships/notesSlide" Target="/ppt/notesSlides/notesSlide9.xml" Id="Rf6a11ede632241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60ec250d246bd" /><Relationship Type="http://schemas.openxmlformats.org/officeDocument/2006/relationships/chart" Target="/ppt/slides/charts/chart6.xml" Id="R088bdb54fc5f4471" /><Relationship Type="http://schemas.openxmlformats.org/officeDocument/2006/relationships/notesSlide" Target="/ppt/notesSlides/notesSlide10.xml" Id="Rcc123f7eaf0d42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ff4a69d82410f" /><Relationship Type="http://schemas.openxmlformats.org/officeDocument/2006/relationships/notesSlide" Target="/ppt/notesSlides/notesSlide11.xml" Id="R7eb13104c64648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3d814ab764f10" /><Relationship Type="http://schemas.openxmlformats.org/officeDocument/2006/relationships/notesSlide" Target="/ppt/notesSlides/notesSlide12.xml" Id="Re31d5a1c889b46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244890c35400e" /><Relationship Type="http://schemas.openxmlformats.org/officeDocument/2006/relationships/notesSlide" Target="/ppt/notesSlides/notesSlide13.xml" Id="Rf46e7cdf538946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a0e44c1084adc" /><Relationship Type="http://schemas.openxmlformats.org/officeDocument/2006/relationships/notesSlide" Target="/ppt/notesSlides/notesSlide14.xml" Id="R8e17fe5290df44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cfad00e334959" /><Relationship Type="http://schemas.openxmlformats.org/officeDocument/2006/relationships/notesSlide" Target="/ppt/notesSlides/notesSlide15.xml" Id="R0bbc53fc22ba49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3A301604-D010-4E5B-A878-0A5F4CF7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19D60F84-2A8E-496C-9695-1D5762C8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758A04DD-B654-4CEF-9FB3-0FEC9A2A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C7BF79B9-3ABE-417F-8F94-F5F1D5AE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B7B7B7"/>
                </a:solidFill>
              </a:rPr>
              <a:t/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E3C5100C-1652-4B03-8789-8385B51C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1" name="Team 7">
            <a:extLst xmlns:a="http://schemas.openxmlformats.org/drawingml/2006/main">
              <a:ext uri="{FF2B5EF4-FFF2-40B4-BE49-F238E27FC236}">
                <a16:creationId xmlns:a16="http://schemas.microsoft.com/office/drawing/2014/main" id="{0DA70C9D-B462-4960-B48D-39E79C9F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6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7</a:t>
            </a:r>
          </a:p>
        </p:txBody>
      </p:sp>
      <p:sp>
        <p:nvSpPr>
          <p:cNvPr id="92" name="Quantum sensing for water-quality changes">
            <a:extLst xmlns:a="http://schemas.openxmlformats.org/drawingml/2006/main">
              <a:ext uri="{FF2B5EF4-FFF2-40B4-BE49-F238E27FC236}">
                <a16:creationId xmlns:a16="http://schemas.microsoft.com/office/drawing/2014/main" id="{A497A162-DF86-47B7-A10F-B63C4FF2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5656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93" name="A continuous-variable simulation of a dissolv">
            <a:extLst xmlns:a="http://schemas.openxmlformats.org/drawingml/2006/main">
              <a:ext uri="{FF2B5EF4-FFF2-40B4-BE49-F238E27FC236}">
                <a16:creationId xmlns:a16="http://schemas.microsoft.com/office/drawing/2014/main" id="{A6B59A6B-3091-4C9A-B9B6-9F048834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continuous-variable simulation of a dissolved-salt proxy</a:t>
            </a:r>
          </a:p>
        </p:txBody>
      </p:sp>
      <p:sp>
        <p:nvSpPr>
          <p:cNvPr id="94" name="28% lower modeled total error in a controlled">
            <a:extLst xmlns:a="http://schemas.openxmlformats.org/drawingml/2006/main">
              <a:ext uri="{FF2B5EF4-FFF2-40B4-BE49-F238E27FC236}">
                <a16:creationId xmlns:a16="http://schemas.microsoft.com/office/drawing/2014/main" id="{9056A02E-254F-4C5D-B755-8341E20F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28% lower modeled total error in a controlled 16-tap pilot</a:t>
            </a:r>
          </a:p>
        </p:txBody>
      </p:sp>
      <p:sp>
        <p:nvSpPr>
          <p:cNvPr id="95" name="NYUAD Hackathon • Research prototype • Octobe">
            <a:extLst xmlns:a="http://schemas.openxmlformats.org/drawingml/2006/main">
              <a:ext uri="{FF2B5EF4-FFF2-40B4-BE49-F238E27FC236}">
                <a16:creationId xmlns:a16="http://schemas.microsoft.com/office/drawing/2014/main" id="{59C0A1DA-F412-45B4-ACA3-3BA1D659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NYUAD Hackathon • Research prototype • October 2026</a:t>
            </a:r>
          </a:p>
        </p:txBody>
      </p:sp>
      <p:sp>
        <p:nvSpPr>
          <p:cNvPr id="96" name="Roster, affiliations, team photo and team log">
            <a:extLst xmlns:a="http://schemas.openxmlformats.org/drawingml/2006/main">
              <a:ext uri="{FF2B5EF4-FFF2-40B4-BE49-F238E27FC236}">
                <a16:creationId xmlns:a16="http://schemas.microsoft.com/office/drawing/2014/main" id="{E0E4D95C-A7D4-4D37-92E9-E684DCA1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785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Roster, affiliations, team photo and team logo to be added</a:t>
            </a:r>
          </a:p>
        </p:txBody>
      </p:sp>
      <p:sp>
        <p:nvSpPr>
          <p:cNvPr id="97" name="1 / 15">
            <a:extLst xmlns:a="http://schemas.openxmlformats.org/drawingml/2006/main">
              <a:ext uri="{FF2B5EF4-FFF2-40B4-BE49-F238E27FC236}">
                <a16:creationId xmlns:a16="http://schemas.microsoft.com/office/drawing/2014/main" id="{97D82FC6-C507-467E-9992-4AB9661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2080019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74B57AAE-77A3-4543-B853-8A7E1FB035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78A99C9A-275B-446A-950C-10D200B07E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EF2B6B85-CE12-4E0F-9045-360B270E805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600" b="1"/>
              <a:t/>
            </a:r>
            <a:endParaRPr sz="1600" b="1"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09973C25-FC4F-4984-AE7F-6B304133FC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3600" b="1"/>
          </a:p>
        </p:txBody>
      </p:sp>
      <p:sp>
        <p:nvSpPr>
          <p:cNvPr id="99" name="The problem and proposed solution">
            <a:extLst xmlns:a="http://schemas.openxmlformats.org/drawingml/2006/main">
              <a:ext uri="{FF2B5EF4-FFF2-40B4-BE49-F238E27FC236}">
                <a16:creationId xmlns:a16="http://schemas.microsoft.com/office/drawing/2014/main" id="{D8FF47C2-A53F-4C2C-9800-CB2CFFA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problem and proposed solution</a:t>
            </a:r>
          </a:p>
        </p:txBody>
      </p:sp>
      <p:sp>
        <p:nvSpPr>
          <p:cNvPr id="100" name="UN monitoring evidence and an operator use-ca">
            <a:extLst xmlns:a="http://schemas.openxmlformats.org/drawingml/2006/main">
              <a:ext uri="{FF2B5EF4-FFF2-40B4-BE49-F238E27FC236}">
                <a16:creationId xmlns:a16="http://schemas.microsoft.com/office/drawing/2014/main" id="{712964C1-1CA0-4ADC-B2CF-CB8D900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UN monitoring evidence and an operator use-case hypothesis</a:t>
            </a:r>
          </a:p>
        </p:txBody>
      </p:sp>
      <p:sp>
        <p:nvSpPr>
          <p:cNvPr id="101" name="UN 2025: poorest regions supplied 60,000 of ~">
            <a:extLst xmlns:a="http://schemas.openxmlformats.org/drawingml/2006/main">
              <a:ext uri="{FF2B5EF4-FFF2-40B4-BE49-F238E27FC236}">
                <a16:creationId xmlns:a16="http://schemas.microsoft.com/office/drawing/2014/main" id="{B836D488-3CE8-47C0-ADD1-245F1097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 2025: poorest regions supplied 60,000 of ~2 million reporting measurements.</a:t>
            </a:r>
          </a:p>
        </p:txBody>
      </p:sp>
      <p:sp>
        <p:nvSpPr>
          <p:cNvPr id="102" name="EPA: online monitoring supports treatment dec">
            <a:extLst xmlns:a="http://schemas.openxmlformats.org/drawingml/2006/main">
              <a:ext uri="{FF2B5EF4-FFF2-40B4-BE49-F238E27FC236}">
                <a16:creationId xmlns:a16="http://schemas.microsoft.com/office/drawing/2014/main" id="{5F7412E0-36C4-4D38-99D5-D684F065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EPA: online monitoring supports treatment decisions and event investigation.</a:t>
            </a:r>
          </a:p>
        </p:txBody>
      </p:sp>
      <p:sp>
        <p:nvSpPr>
          <p:cNvPr id="103" name="Proposed user: an operator investigating mean">
            <a:extLst xmlns:a="http://schemas.openxmlformats.org/drawingml/2006/main">
              <a:ext uri="{FF2B5EF4-FFF2-40B4-BE49-F238E27FC236}">
                <a16:creationId xmlns:a16="http://schemas.microsoft.com/office/drawing/2014/main" id="{E6A974D7-39C8-4077-B7FE-36F39909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user: an operator investigating mean composition changes across taps.</a:t>
            </a:r>
          </a:p>
        </p:txBody>
      </p:sp>
      <p:sp>
        <p:nvSpPr>
          <p:cNvPr id="104" name="Our contribution: water-proxy CV simulation w">
            <a:extLst xmlns:a="http://schemas.openxmlformats.org/drawingml/2006/main">
              <a:ext uri="{FF2B5EF4-FFF2-40B4-BE49-F238E27FC236}">
                <a16:creationId xmlns:a16="http://schemas.microsoft.com/office/drawing/2014/main" id="{53E41EA5-9DBD-43DB-B46D-6D63B839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Our contribution: water-proxy CV simulation with loss, drift and fair baselines.</a:t>
            </a:r>
          </a:p>
        </p:txBody>
      </p:sp>
      <p:sp>
        <p:nvSpPr>
          <p:cNvPr id="10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B50D8F32-C6C3-41D2-B3D4-9E188900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06" name="2 / 15">
            <a:extLst xmlns:a="http://schemas.openxmlformats.org/drawingml/2006/main">
              <a:ext uri="{FF2B5EF4-FFF2-40B4-BE49-F238E27FC236}">
                <a16:creationId xmlns:a16="http://schemas.microsoft.com/office/drawing/2014/main" id="{73C26CAF-D191-469D-8996-F3D75ED2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458242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1381A6D6-2675-4936-9DAC-887F5BFA4A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200" b="1"/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48DAA10F-324B-4860-9A59-2E9BFF26BB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68B57DF9-E1F6-4189-B877-9E6B622C0B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 i="0" u="none" cap="none">
              <a:solidFill>
                <a:srgbClr val="B7B7B7"/>
              </a:solidFill>
            </a:endParaRPr>
          </a:p>
        </p:txBody>
      </p:sp>
      <p:sp>
        <p:nvSpPr>
          <p:cNvPr id="106" name="How the simulation runs">
            <a:extLst xmlns:a="http://schemas.openxmlformats.org/drawingml/2006/main">
              <a:ext uri="{FF2B5EF4-FFF2-40B4-BE49-F238E27FC236}">
                <a16:creationId xmlns:a16="http://schemas.microsoft.com/office/drawing/2014/main" id="{92DF41FE-740B-44C1-A297-AF471C28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the simulation runs</a:t>
            </a:r>
          </a:p>
        </p:txBody>
      </p:sp>
      <p:sp>
        <p:nvSpPr>
          <p:cNvPr id="107" name="Classical CPU computation of a proposed quant">
            <a:extLst xmlns:a="http://schemas.openxmlformats.org/drawingml/2006/main">
              <a:ext uri="{FF2B5EF4-FFF2-40B4-BE49-F238E27FC236}">
                <a16:creationId xmlns:a16="http://schemas.microsoft.com/office/drawing/2014/main" id="{8035BF45-0710-4DC1-B6DC-C3804EAE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Classical CPU computation of a proposed quantum optical sensor</a:t>
            </a:r>
          </a:p>
        </p:txBody>
      </p:sp>
      <p:sp>
        <p:nvSpPr>
          <p:cNvPr id="108" name="Inputs: default.json assumptions and a CSV of">
            <a:extLst xmlns:a="http://schemas.openxmlformats.org/drawingml/2006/main">
              <a:ext uri="{FF2B5EF4-FFF2-40B4-BE49-F238E27FC236}">
                <a16:creationId xmlns:a16="http://schemas.microsoft.com/office/drawing/2014/main" id="{A3C2FF16-2AD2-431D-8529-E6ACBD66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Inputs: default.json assumptions and a CSV of 64 distinct coordinates.</a:t>
            </a:r>
          </a:p>
        </p:txBody>
      </p:sp>
      <p:sp>
        <p:nvSpPr>
          <p:cNvPr id="109" name="Python 3.12: NumPy covariance, SciPy probabil">
            <a:extLst xmlns:a="http://schemas.openxmlformats.org/drawingml/2006/main">
              <a:ext uri="{FF2B5EF4-FFF2-40B4-BE49-F238E27FC236}">
                <a16:creationId xmlns:a16="http://schemas.microsoft.com/office/drawing/2014/main" id="{CE5CE899-C256-4257-9471-49A771B0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3.12: NumPy covariance, SciPy probability, pandas data, Matplotlib plots.</a:t>
            </a:r>
          </a:p>
        </p:txBody>
      </p:sp>
      <p:sp>
        <p:nvSpPr>
          <p:cNvPr id="110" name="Compute phase sensitivity and loss, then mean">
            <a:extLst xmlns:a="http://schemas.openxmlformats.org/drawingml/2006/main">
              <a:ext uri="{FF2B5EF4-FFF2-40B4-BE49-F238E27FC236}">
                <a16:creationId xmlns:a16="http://schemas.microsoft.com/office/drawing/2014/main" id="{5ECFFB0F-6EAA-49CF-8ACD-B2F753C9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 phase sensitivity and loss, then mean variance plus drift and calibration.</a:t>
            </a:r>
          </a:p>
        </p:txBody>
      </p:sp>
      <p:sp>
        <p:nvSpPr>
          <p:cNvPr id="111" name="Outputs: RMSE, detection probabilities, synth">
            <a:extLst xmlns:a="http://schemas.openxmlformats.org/drawingml/2006/main">
              <a:ext uri="{FF2B5EF4-FFF2-40B4-BE49-F238E27FC236}">
                <a16:creationId xmlns:a16="http://schemas.microsoft.com/office/drawing/2014/main" id="{52069CE6-4441-4A31-9CB1-0998FF0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Outputs: RMSE, detection probabilities, synthetic time traces and ten figures.</a:t>
            </a:r>
          </a:p>
        </p:txBody>
      </p:sp>
      <p:sp>
        <p:nvSpPr>
          <p:cNvPr id="112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C17EB0C-E460-486D-AA53-29BAB79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3" name="3 / 15">
            <a:extLst xmlns:a="http://schemas.openxmlformats.org/drawingml/2006/main">
              <a:ext uri="{FF2B5EF4-FFF2-40B4-BE49-F238E27FC236}">
                <a16:creationId xmlns:a16="http://schemas.microsoft.com/office/drawing/2014/main" id="{44463E42-0D67-4E33-BC0D-867E0DDB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1656040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ADDE776C-5748-415E-971F-8FA26C57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7BCD48E5-014E-44C6-BE23-E7A830A75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37AB9A92-7D62-4AFF-A0BD-A7CE4CC9B8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rPr sz="1000" b="1"/>
              <a:t/>
            </a:r>
            <a:endParaRPr sz="1000" b="1"/>
          </a:p>
        </p:txBody>
      </p:sp>
      <p:sp>
        <p:nvSpPr>
          <p:cNvPr id="113" name="Development and validation">
            <a:extLst xmlns:a="http://schemas.openxmlformats.org/drawingml/2006/main">
              <a:ext uri="{FF2B5EF4-FFF2-40B4-BE49-F238E27FC236}">
                <a16:creationId xmlns:a16="http://schemas.microsoft.com/office/drawing/2014/main" id="{1BDE3301-4FDE-46B6-8D06-618106D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Development and validation</a:t>
            </a:r>
          </a:p>
        </p:txBody>
      </p:sp>
      <p:sp>
        <p:nvSpPr>
          <p:cNvPr id="114" name="Published physics, explicit assumptions and r">
            <a:extLst xmlns:a="http://schemas.openxmlformats.org/drawingml/2006/main">
              <a:ext uri="{FF2B5EF4-FFF2-40B4-BE49-F238E27FC236}">
                <a16:creationId xmlns:a16="http://schemas.microsoft.com/office/drawing/2014/main" id="{5383253D-581D-439D-B600-C34090C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Published physics, explicit assumptions and reproducible comparisons</a:t>
            </a:r>
          </a:p>
        </p:txBody>
      </p:sp>
      <p:sp>
        <p:nvSpPr>
          <p:cNvPr id="115" name="model.py implements the equations; run.py swe">
            <a:extLst xmlns:a="http://schemas.openxmlformats.org/drawingml/2006/main">
              <a:ext uri="{FF2B5EF4-FFF2-40B4-BE49-F238E27FC236}">
                <a16:creationId xmlns:a16="http://schemas.microsoft.com/office/drawing/2014/main" id="{EA4EEE03-C94F-49F8-B57E-F6B06118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model.py implements the equations; run.py sweeps count, loss, power and drift.</a:t>
            </a:r>
          </a:p>
        </p:txBody>
      </p:sp>
      <p:sp>
        <p:nvSpPr>
          <p:cNvPr id="116" name="Analytic RMSE curves; 100,000 null/event draw">
            <a:extLst xmlns:a="http://schemas.openxmlformats.org/drawingml/2006/main">
              <a:ext uri="{FF2B5EF4-FFF2-40B4-BE49-F238E27FC236}">
                <a16:creationId xmlns:a16="http://schemas.microsoft.com/office/drawing/2014/main" id="{50698C90-65FB-46B8-9275-599A715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Analytic RMSE curves; 100,000 null/event draws check Gaussian detection.</a:t>
            </a:r>
          </a:p>
        </p:txBody>
      </p:sp>
      <p:sp>
        <p:nvSpPr>
          <p:cNvPr id="117" name="13 checks test physicality, limits, units and">
            <a:extLst xmlns:a="http://schemas.openxmlformats.org/drawingml/2006/main">
              <a:ext uri="{FF2B5EF4-FFF2-40B4-BE49-F238E27FC236}">
                <a16:creationId xmlns:a16="http://schemas.microsoft.com/office/drawing/2014/main" id="{39B2A326-A8BD-4574-8E0E-D099EFE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13 checks test physicality, limits, units and agreement; seed 2601006.</a:t>
            </a:r>
          </a:p>
        </p:txBody>
      </p:sp>
      <p:sp>
        <p:nvSpPr>
          <p:cNvPr id="118" name="Run bash src/reproduce.sh. No quantum device ">
            <a:extLst xmlns:a="http://schemas.openxmlformats.org/drawingml/2006/main">
              <a:ext uri="{FF2B5EF4-FFF2-40B4-BE49-F238E27FC236}">
                <a16:creationId xmlns:a16="http://schemas.microsoft.com/office/drawing/2014/main" id="{A8EED61A-A72F-44D4-B624-819F6E21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Run bash src/reproduce.sh. No quantum device or trained model was executed.</a:t>
            </a:r>
          </a:p>
        </p:txBody>
      </p:sp>
      <p:sp>
        <p:nvSpPr>
          <p:cNvPr id="119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63CBAA3-A7D0-4C84-B73D-F670B6E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20" name="4 / 15">
            <a:extLst xmlns:a="http://schemas.openxmlformats.org/drawingml/2006/main">
              <a:ext uri="{FF2B5EF4-FFF2-40B4-BE49-F238E27FC236}">
                <a16:creationId xmlns:a16="http://schemas.microsoft.com/office/drawing/2014/main" id="{12E23076-C89B-4E8A-B733-41F8CF6B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070792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B052771A-C973-4676-B3F3-4D5A90D8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187EC271-0F4F-4AD7-B21B-0E5D4A82E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63EBB2E8-F981-4C2E-8B23-AEB8EDBA10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000" b="1"/>
          </a:p>
        </p:txBody>
      </p:sp>
      <p:sp>
        <p:nvSpPr>
          <p:cNvPr id="120" name="28% lower total error in the pilot">
            <a:extLst xmlns:a="http://schemas.openxmlformats.org/drawingml/2006/main">
              <a:ext uri="{FF2B5EF4-FFF2-40B4-BE49-F238E27FC236}">
                <a16:creationId xmlns:a16="http://schemas.microsoft.com/office/drawing/2014/main" id="{8356B3B1-91B1-4CEF-95F6-64314AA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28% lower total error in the pilot</a:t>
            </a:r>
          </a:p>
        </p:txBody>
      </p:sp>
      <p:sp>
        <p:nvSpPr>
          <p:cNvPr id="121" name="16 taps • 100 m links • 10 nW/node • 1 s • 50">
            <a:extLst xmlns:a="http://schemas.openxmlformats.org/drawingml/2006/main">
              <a:ext uri="{FF2B5EF4-FFF2-40B4-BE49-F238E27FC236}">
                <a16:creationId xmlns:a16="http://schemas.microsoft.com/office/drawing/2014/main" id="{D543C51A-86AC-4939-BAA0-3943D818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16 taps • 100 m links • 10 nW/node • 1 s • 50 µK common residual</a:t>
            </a:r>
          </a:p>
        </p:txBody>
      </p:sp>
      <p:graphicFrame>
        <p:nvGraphicFramePr>
          <p:cNvPr id="132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ee581b68274599"/>
          </a:graphicData>
        </a:graphic>
      </p:graphicFrame>
      <p:sp>
        <p:nvSpPr>
          <p:cNvPr id="123" name="Coherent 0.0921 → distributed 0.0664 mg/kg to">
            <a:extLst xmlns:a="http://schemas.openxmlformats.org/drawingml/2006/main">
              <a:ext uri="{FF2B5EF4-FFF2-40B4-BE49-F238E27FC236}">
                <a16:creationId xmlns:a16="http://schemas.microsoft.com/office/drawing/2014/main" id="{DE75D5E7-ECBA-4F35-ADD3-DDB8D554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Coherent 0.0921 → distributed 0.0664 mg/kg total RMSE</a:t>
            </a:r>
          </a:p>
        </p:txBody>
      </p:sp>
      <p:sp>
        <p:nvSpPr>
          <p:cNvPr id="124" name="16.6% lower RMSE than independent squeezing; ">
            <a:extLst xmlns:a="http://schemas.openxmlformats.org/drawingml/2006/main">
              <a:ext uri="{FF2B5EF4-FFF2-40B4-BE49-F238E27FC236}">
                <a16:creationId xmlns:a16="http://schemas.microsoft.com/office/drawing/2014/main" id="{856E1705-9D31-462A-8D67-64469BC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16.6% lower RMSE than independent squeezing; same launched probe photons</a:t>
            </a:r>
          </a:p>
        </p:txBody>
      </p:sp>
      <p:sp>
        <p:nvSpPr>
          <p:cNvPr id="12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FD78C06-E5FF-41E2-A4A4-B0FDE51A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26" name="5 / 15">
            <a:extLst xmlns:a="http://schemas.openxmlformats.org/drawingml/2006/main">
              <a:ext uri="{FF2B5EF4-FFF2-40B4-BE49-F238E27FC236}">
                <a16:creationId xmlns:a16="http://schemas.microsoft.com/office/drawing/2014/main" id="{DC6596DE-2CDD-42B7-9F82-976C365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129611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Ideal scaling has resource conditions">
            <a:extLst xmlns:a="http://schemas.openxmlformats.org/drawingml/2006/main">
              <a:ext uri="{FF2B5EF4-FFF2-40B4-BE49-F238E27FC236}">
                <a16:creationId xmlns:a16="http://schemas.microsoft.com/office/drawing/2014/main" id="{D50CF79C-3980-49F2-A7E0-A4F5A70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Ideal scaling has resource conditions</a:t>
            </a:r>
          </a:p>
        </p:txBody>
      </p:sp>
      <p:sp>
        <p:nvSpPr>
          <p:cNvPr id="126" name="Lossless reference • Growing total squeezing ">
            <a:extLst xmlns:a="http://schemas.openxmlformats.org/drawingml/2006/main">
              <a:ext uri="{FF2B5EF4-FFF2-40B4-BE49-F238E27FC236}">
                <a16:creationId xmlns:a16="http://schemas.microsoft.com/office/drawing/2014/main" id="{DF6A148E-515D-409D-B32A-DB3D0C25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Lossless reference • Growing total squeezing • No practical source cap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10036ffd12480d"/>
          </a:graphicData>
        </a:graphic>
      </p:graphicFrame>
      <p:sp>
        <p:nvSpPr>
          <p:cNvPr id="128" name="Fitted RMS slope: −0.953 distributed versus −">
            <a:extLst xmlns:a="http://schemas.openxmlformats.org/drawingml/2006/main">
              <a:ext uri="{FF2B5EF4-FFF2-40B4-BE49-F238E27FC236}">
                <a16:creationId xmlns:a16="http://schemas.microsoft.com/office/drawing/2014/main" id="{6AD336E6-ACF3-45DE-9E6E-CAE1162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Fitted RMS slope: −0.953 distributed versus −0.500 coherent</a:t>
            </a:r>
          </a:p>
        </p:txBody>
      </p:sp>
      <p:sp>
        <p:nvSpPr>
          <p:cNvPr id="129" name="Loss and a finite source cap remove the asymp">
            <a:extLst xmlns:a="http://schemas.openxmlformats.org/drawingml/2006/main">
              <a:ext uri="{FF2B5EF4-FFF2-40B4-BE49-F238E27FC236}">
                <a16:creationId xmlns:a16="http://schemas.microsoft.com/office/drawing/2014/main" id="{61EF274C-8BD7-473F-9DD1-4A13B4E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Loss and a finite source cap remove the asymptotic exponent advantage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E05D25B6-8FB8-4141-8F36-8DC28BFD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6 / 15">
            <a:extLst xmlns:a="http://schemas.openxmlformats.org/drawingml/2006/main">
              <a:ext uri="{FF2B5EF4-FFF2-40B4-BE49-F238E27FC236}">
                <a16:creationId xmlns:a16="http://schemas.microsoft.com/office/drawing/2014/main" id="{8620090D-DCF2-45CE-9714-AD8167A5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Regional gain shrinks to 1.11×">
            <a:extLst xmlns:a="http://schemas.openxmlformats.org/drawingml/2006/main">
              <a:ext uri="{FF2B5EF4-FFF2-40B4-BE49-F238E27FC236}">
                <a16:creationId xmlns:a16="http://schemas.microsoft.com/office/drawing/2014/main" id="{7592A040-58BC-4BD5-AF9C-5E58929D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gain shrinks to 1.11×</a:t>
            </a:r>
          </a:p>
        </p:txBody>
      </p:sp>
      <p:sp>
        <p:nvSpPr>
          <p:cNvPr id="126" name="64 distinct supplied coordinates • Assumed ro">
            <a:extLst xmlns:a="http://schemas.openxmlformats.org/drawingml/2006/main">
              <a:ext uri="{FF2B5EF4-FFF2-40B4-BE49-F238E27FC236}">
                <a16:creationId xmlns:a16="http://schemas.microsoft.com/office/drawing/2014/main" id="{64E17AD0-B86B-4CFA-9DCD-DE1A39E1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64 distinct supplied coordinates • Assumed routes • Optimized coherent baseline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0cd593339740bc"/>
          </a:graphicData>
        </a:graphic>
      </p:graphicFrame>
      <p:sp>
        <p:nvSpPr>
          <p:cNvPr id="128" name="Mean transmission 0.371; longer links replace">
            <a:extLst xmlns:a="http://schemas.openxmlformats.org/drawingml/2006/main">
              <a:ext uri="{FF2B5EF4-FFF2-40B4-BE49-F238E27FC236}">
                <a16:creationId xmlns:a16="http://schemas.microsoft.com/office/drawing/2014/main" id="{78000505-6943-4543-9B89-BA964B57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Mean transmission 0.371; longer links replace squeezing with vacuum noise</a:t>
            </a:r>
          </a:p>
        </p:txBody>
      </p:sp>
      <p:sp>
        <p:nvSpPr>
          <p:cNvPr id="129" name="Total RMSE: optimized coherent 0.0729 → distr">
            <a:extLst xmlns:a="http://schemas.openxmlformats.org/drawingml/2006/main">
              <a:ext uri="{FF2B5EF4-FFF2-40B4-BE49-F238E27FC236}">
                <a16:creationId xmlns:a16="http://schemas.microsoft.com/office/drawing/2014/main" id="{C993FDDC-155D-4AFC-8C74-E3A718CB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Total RMSE: optimized coherent 0.0729 → distributed 0.0655 mg/kg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4480F231-1CFC-4B50-9C9E-1A050D89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7 / 15">
            <a:extLst xmlns:a="http://schemas.openxmlformats.org/drawingml/2006/main">
              <a:ext uri="{FF2B5EF4-FFF2-40B4-BE49-F238E27FC236}">
                <a16:creationId xmlns:a16="http://schemas.microsoft.com/office/drawing/2014/main" id="{B926AADF-7512-40DC-AC34-78E3FB6E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emperature can erase the benefit">
            <a:extLst xmlns:a="http://schemas.openxmlformats.org/drawingml/2006/main">
              <a:ext uri="{FF2B5EF4-FFF2-40B4-BE49-F238E27FC236}">
                <a16:creationId xmlns:a16="http://schemas.microsoft.com/office/drawing/2014/main" id="{8D58CC1A-1B68-4FAB-BA6E-EC14E505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 can erase the benefit</a:t>
            </a:r>
          </a:p>
        </p:txBody>
      </p:sp>
      <p:sp>
        <p:nvSpPr>
          <p:cNvPr id="126" name="Common drift does not average away across mor">
            <a:extLst xmlns:a="http://schemas.openxmlformats.org/drawingml/2006/main">
              <a:ext uri="{FF2B5EF4-FFF2-40B4-BE49-F238E27FC236}">
                <a16:creationId xmlns:a16="http://schemas.microsoft.com/office/drawing/2014/main" id="{FCFF777B-A929-4FAB-A72E-77F9F25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Common drift does not average away across more sensors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638644ff324f9f"/>
          </a:graphicData>
        </a:graphic>
      </p:graphicFrame>
      <p:sp>
        <p:nvSpPr>
          <p:cNvPr id="128" name="10 mK residual → about 9.137 mg/kg error for ">
            <a:extLst xmlns:a="http://schemas.openxmlformats.org/drawingml/2006/main">
              <a:ext uri="{FF2B5EF4-FFF2-40B4-BE49-F238E27FC236}">
                <a16:creationId xmlns:a16="http://schemas.microsoft.com/office/drawing/2014/main" id="{860ED994-D446-4BDD-897E-3090AF45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10 mK residual → about 9.137 mg/kg error for either strategy</a:t>
            </a:r>
          </a:p>
        </p:txBody>
      </p:sp>
      <p:sp>
        <p:nvSpPr>
          <p:cNvPr id="129" name="~28 nW/tap coherent matches the 10 nW quantum">
            <a:extLst xmlns:a="http://schemas.openxmlformats.org/drawingml/2006/main">
              <a:ext uri="{FF2B5EF4-FFF2-40B4-BE49-F238E27FC236}">
                <a16:creationId xmlns:a16="http://schemas.microsoft.com/office/drawing/2014/main" id="{E1EB0512-6F6E-453C-B3CE-D6CC669A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~28 nW/tap coherent matches the 10 nW quantum result under the same drift.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968C262-2A5D-4A88-ABCC-6E9B259E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8 / 15">
            <a:extLst xmlns:a="http://schemas.openxmlformats.org/drawingml/2006/main">
              <a:ext uri="{FF2B5EF4-FFF2-40B4-BE49-F238E27FC236}">
                <a16:creationId xmlns:a16="http://schemas.microsoft.com/office/drawing/2014/main" id="{B4E455D3-61EC-48E6-AD61-89FE914D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A matched detection comparison">
            <a:extLst xmlns:a="http://schemas.openxmlformats.org/drawingml/2006/main">
              <a:ext uri="{FF2B5EF4-FFF2-40B4-BE49-F238E27FC236}">
                <a16:creationId xmlns:a16="http://schemas.microsoft.com/office/drawing/2014/main" id="{025E04B6-63B5-4D9B-9C9C-1CB8F7E7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matched detection comparison</a:t>
            </a:r>
          </a:p>
        </p:txBody>
      </p:sp>
      <p:sp>
        <p:nvSpPr>
          <p:cNvPr id="126" name="0.15 mg/kg step • 16 taps • 1 s • 1% false al">
            <a:extLst xmlns:a="http://schemas.openxmlformats.org/drawingml/2006/main">
              <a:ext uri="{FF2B5EF4-FFF2-40B4-BE49-F238E27FC236}">
                <a16:creationId xmlns:a16="http://schemas.microsoft.com/office/drawing/2014/main" id="{A0F5A782-6E11-4816-BAF4-46B9B9BA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0.15 mg/kg step • 16 taps • 1 s • 1% false alarm per decision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53c03158cd419e"/>
          </a:graphicData>
        </a:graphic>
      </p:graphicFrame>
      <p:sp>
        <p:nvSpPr>
          <p:cNvPr id="128" name="Detection probability rises from 24.3% to 47.">
            <a:extLst xmlns:a="http://schemas.openxmlformats.org/drawingml/2006/main">
              <a:ext uri="{FF2B5EF4-FFF2-40B4-BE49-F238E27FC236}">
                <a16:creationId xmlns:a16="http://schemas.microsoft.com/office/drawing/2014/main" id="{F5540879-E555-4772-B922-77CAFBB7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Detection probability rises from 24.3% to 47.3% under the model</a:t>
            </a:r>
          </a:p>
        </p:txBody>
      </p:sp>
      <p:sp>
        <p:nvSpPr>
          <p:cNvPr id="129" name="1% at 1 Hz means 36 expected flagged windows/">
            <a:extLst xmlns:a="http://schemas.openxmlformats.org/drawingml/2006/main">
              <a:ext uri="{FF2B5EF4-FFF2-40B4-BE49-F238E27FC236}">
                <a16:creationId xmlns:a16="http://schemas.microsoft.com/office/drawing/2014/main" id="{F9D4C5A1-200B-44ED-A073-F7822285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1% at 1 Hz means 36 expected flagged windows/hour: an alarm policy is still needed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681EE65-CD0A-4E85-B323-7E60CCAA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9 / 15">
            <a:extLst xmlns:a="http://schemas.openxmlformats.org/drawingml/2006/main">
              <a:ext uri="{FF2B5EF4-FFF2-40B4-BE49-F238E27FC236}">
                <a16:creationId xmlns:a16="http://schemas.microsoft.com/office/drawing/2014/main" id="{C91179DA-DE6E-4AB2-89DE-B859E75A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Demo: continuous monitoring">
            <a:extLst xmlns:a="http://schemas.openxmlformats.org/drawingml/2006/main">
              <a:ext uri="{FF2B5EF4-FFF2-40B4-BE49-F238E27FC236}">
                <a16:creationId xmlns:a16="http://schemas.microsoft.com/office/drawing/2014/main" id="{DB210A9A-9947-40C9-B202-06B5000D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Demo: continuous monitoring</a:t>
            </a:r>
          </a:p>
        </p:txBody>
      </p:sp>
      <p:sp>
        <p:nvSpPr>
          <p:cNvPr id="126" name="Synthetic unequal arrivals • Shared drift • E">
            <a:extLst xmlns:a="http://schemas.openxmlformats.org/drawingml/2006/main">
              <a:ext uri="{FF2B5EF4-FFF2-40B4-BE49-F238E27FC236}">
                <a16:creationId xmlns:a16="http://schemas.microsoft.com/office/drawing/2014/main" id="{4DBE3EB8-C667-40C3-942A-04258D69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Synthetic unequal arrivals • Shared drift • Explicit sensor lag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8bdb54fc5f4471"/>
          </a:graphicData>
        </a:graphic>
      </p:graphicFrame>
      <p:sp>
        <p:nvSpPr>
          <p:cNvPr id="128" name="The quantum mean is cleaner; neither method r">
            <a:extLst xmlns:a="http://schemas.openxmlformats.org/drawingml/2006/main">
              <a:ext uri="{FF2B5EF4-FFF2-40B4-BE49-F238E27FC236}">
                <a16:creationId xmlns:a16="http://schemas.microsoft.com/office/drawing/2014/main" id="{E7548235-9EA6-4C10-93B5-269F28F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The quantum mean is cleaner; neither method removes lag or identifies a chemical</a:t>
            </a:r>
          </a:p>
        </p:txBody>
      </p:sp>
      <p:sp>
        <p:nvSpPr>
          <p:cNvPr id="129" name="Demo: compare truth, filtered response and ob">
            <a:extLst xmlns:a="http://schemas.openxmlformats.org/drawingml/2006/main">
              <a:ext uri="{FF2B5EF4-FFF2-40B4-BE49-F238E27FC236}">
                <a16:creationId xmlns:a16="http://schemas.microsoft.com/office/drawing/2014/main" id="{71E0D671-C71D-4B63-9F6C-2F3140AD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Demo: compare truth, filtered response and observations in the figure gallery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F488254-1D89-41E0-84BA-A499E22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10 / 15">
            <a:extLst xmlns:a="http://schemas.openxmlformats.org/drawingml/2006/main">
              <a:ext uri="{FF2B5EF4-FFF2-40B4-BE49-F238E27FC236}">
                <a16:creationId xmlns:a16="http://schemas.microsoft.com/office/drawing/2014/main" id="{3CD6FC16-A2C4-4D62-98CE-0498E5D8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Measured anchors / design assumptions">
            <a:extLst xmlns:a="http://schemas.openxmlformats.org/drawingml/2006/main">
              <a:ext uri="{FF2B5EF4-FFF2-40B4-BE49-F238E27FC236}">
                <a16:creationId xmlns:a16="http://schemas.microsoft.com/office/drawing/2014/main" id="{8EC9D408-AC8F-4AA9-9B82-05726C75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anchors / design assumptions</a:t>
            </a:r>
          </a:p>
        </p:txBody>
      </p:sp>
      <p:sp>
        <p:nvSpPr>
          <p:cNvPr id="126" name="Sources establish a mechanism; the complete w">
            <a:extLst xmlns:a="http://schemas.openxmlformats.org/drawingml/2006/main">
              <a:ext uri="{FF2B5EF4-FFF2-40B4-BE49-F238E27FC236}">
                <a16:creationId xmlns:a16="http://schemas.microsoft.com/office/drawing/2014/main" id="{31B6392B-5A9B-4D10-B7F0-E1FCA6B7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Sources establish a mechanism; the complete water device remains unvalidated</a:t>
            </a:r>
          </a:p>
        </p:txBody>
      </p:sp>
      <p:sp>
        <p:nvSpPr>
          <p:cNvPr id="127" name="Measured anchors: NaCl index slope, telecom s">
            <a:extLst xmlns:a="http://schemas.openxmlformats.org/drawingml/2006/main">
              <a:ext uri="{FF2B5EF4-FFF2-40B4-BE49-F238E27FC236}">
                <a16:creationId xmlns:a16="http://schemas.microsoft.com/office/drawing/2014/main" id="{F29C665C-AE13-474A-958B-0813167E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anchors: NaCl index slope, telecom squeezing, fiber attenuation, water dn/dT.</a:t>
            </a:r>
          </a:p>
        </p:txBody>
      </p:sp>
      <p:sp>
        <p:nvSpPr>
          <p:cNvPr id="128" name="Design targets: 10 µm interaction, 10 dB cap,">
            <a:extLst xmlns:a="http://schemas.openxmlformats.org/drawingml/2006/main">
              <a:ext uri="{FF2B5EF4-FFF2-40B4-BE49-F238E27FC236}">
                <a16:creationId xmlns:a16="http://schemas.microsoft.com/office/drawing/2014/main" id="{DCE81D5D-A900-49FF-847A-325CD2CB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targets: 10 µm interaction, 10 dB cap, 1 MHz mode rate, 50 µK residual.</a:t>
            </a:r>
          </a:p>
        </p:txBody>
      </p:sp>
      <p:sp>
        <p:nvSpPr>
          <p:cNvPr id="129" name="Supplied sensing experiment: RF air measureme">
            <a:extLst xmlns:a="http://schemas.openxmlformats.org/drawingml/2006/main">
              <a:ext uri="{FF2B5EF4-FFF2-40B4-BE49-F238E27FC236}">
                <a16:creationId xmlns:a16="http://schemas.microsoft.com/office/drawing/2014/main" id="{C74ABBDB-1B3F-49E9-A505-704861C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Supplied sensing experiment: RF air measurement, not slow water calibration.</a:t>
            </a:r>
          </a:p>
        </p:txBody>
      </p:sp>
      <p:sp>
        <p:nvSpPr>
          <p:cNvPr id="130" name="16 taps: assumed four-stage split, below sour">
            <a:extLst xmlns:a="http://schemas.openxmlformats.org/drawingml/2006/main">
              <a:ext uri="{FF2B5EF4-FFF2-40B4-BE49-F238E27FC236}">
                <a16:creationId xmlns:a16="http://schemas.microsoft.com/office/drawing/2014/main" id="{6EE3E073-73B2-490E-8483-2BD038C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16 taps: assumed four-stage split, below source cap. Published CV precedent: four.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A86026A-D64F-4B65-8103-61559AAD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1 / 15">
            <a:extLst xmlns:a="http://schemas.openxmlformats.org/drawingml/2006/main">
              <a:ext uri="{FF2B5EF4-FFF2-40B4-BE49-F238E27FC236}">
                <a16:creationId xmlns:a16="http://schemas.microsoft.com/office/drawing/2014/main" id="{F1134289-485C-4CF6-8A0E-E61AAF22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Business sustainability and scalability">
            <a:extLst xmlns:a="http://schemas.openxmlformats.org/drawingml/2006/main">
              <a:ext uri="{FF2B5EF4-FFF2-40B4-BE49-F238E27FC236}">
                <a16:creationId xmlns:a16="http://schemas.microsoft.com/office/drawing/2014/main" id="{234AA828-B61A-4AE9-ACAA-0B738F1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sustainability and scalability</a:t>
            </a:r>
          </a:p>
        </p:txBody>
      </p:sp>
      <p:sp>
        <p:nvSpPr>
          <p:cNvPr id="126" name="Start with a controlled plant laboratory">
            <a:extLst xmlns:a="http://schemas.openxmlformats.org/drawingml/2006/main">
              <a:ext uri="{FF2B5EF4-FFF2-40B4-BE49-F238E27FC236}">
                <a16:creationId xmlns:a16="http://schemas.microsoft.com/office/drawing/2014/main" id="{77A36527-D8C7-48A1-80A6-997BC798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Start with a controlled plant laboratory</a:t>
            </a:r>
          </a:p>
        </p:txBody>
      </p:sp>
      <p:sp>
        <p:nvSpPr>
          <p:cNvPr id="127" name="Alternative: conventional conductivity or a s">
            <a:extLst xmlns:a="http://schemas.openxmlformats.org/drawingml/2006/main">
              <a:ext uri="{FF2B5EF4-FFF2-40B4-BE49-F238E27FC236}">
                <a16:creationId xmlns:a16="http://schemas.microsoft.com/office/drawing/2014/main" id="{DAA14387-84F1-4EE8-B06F-BB9C4B9F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Alternative: conventional conductivity or a stronger coherent optical probe.</a:t>
            </a:r>
          </a:p>
        </p:txBody>
      </p:sp>
      <p:sp>
        <p:nvSpPr>
          <p:cNvPr id="128" name="Possible path: a paid research pilot, then a ">
            <a:extLst xmlns:a="http://schemas.openxmlformats.org/drawingml/2006/main">
              <a:ext uri="{FF2B5EF4-FFF2-40B4-BE49-F238E27FC236}">
                <a16:creationId xmlns:a16="http://schemas.microsoft.com/office/drawing/2014/main" id="{97DE4D1E-BDDC-4DEA-B45D-D68CB70D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Possible path: a paid research pilot, then a calibrated monitoring module.</a:t>
            </a:r>
          </a:p>
        </p:txBody>
      </p:sp>
      <p:sp>
        <p:nvSpPr>
          <p:cNvPr id="129" name="Scale only after surveyed routes, measured dr">
            <a:extLst xmlns:a="http://schemas.openxmlformats.org/drawingml/2006/main">
              <a:ext uri="{FF2B5EF4-FFF2-40B4-BE49-F238E27FC236}">
                <a16:creationId xmlns:a16="http://schemas.microsoft.com/office/drawing/2014/main" id="{E68E83E7-0BD1-43DE-8DDA-3E494577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only after surveyed routes, measured drift and useful detection justify cost.</a:t>
            </a:r>
          </a:p>
        </p:txBody>
      </p:sp>
      <p:sp>
        <p:nvSpPr>
          <p:cNvPr id="130" name="No verified customer, pricing, partner commit">
            <a:extLst xmlns:a="http://schemas.openxmlformats.org/drawingml/2006/main">
              <a:ext uri="{FF2B5EF4-FFF2-40B4-BE49-F238E27FC236}">
                <a16:creationId xmlns:a16="http://schemas.microsoft.com/office/drawing/2014/main" id="{13912A68-5E65-4907-B3E4-AD41AF57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No verified customer, pricing, partner commitment or net energy saving yet.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444BC504-EB85-4487-8647-263A426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2 / 15">
            <a:extLst xmlns:a="http://schemas.openxmlformats.org/drawingml/2006/main">
              <a:ext uri="{FF2B5EF4-FFF2-40B4-BE49-F238E27FC236}">
                <a16:creationId xmlns:a16="http://schemas.microsoft.com/office/drawing/2014/main" id="{A316C649-D74F-48A6-8E58-4259830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Next steps and decision gates">
            <a:extLst xmlns:a="http://schemas.openxmlformats.org/drawingml/2006/main">
              <a:ext uri="{FF2B5EF4-FFF2-40B4-BE49-F238E27FC236}">
                <a16:creationId xmlns:a16="http://schemas.microsoft.com/office/drawing/2014/main" id="{7F0B5F39-D6C6-4762-92C9-AB7E376D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steps and decision gates</a:t>
            </a:r>
          </a:p>
        </p:txBody>
      </p:sp>
      <p:sp>
        <p:nvSpPr>
          <p:cNvPr id="126" name="A measured advantage must survive practical a">
            <a:extLst xmlns:a="http://schemas.openxmlformats.org/drawingml/2006/main">
              <a:ext uri="{FF2B5EF4-FFF2-40B4-BE49-F238E27FC236}">
                <a16:creationId xmlns:a16="http://schemas.microsoft.com/office/drawing/2014/main" id="{DC3E3FA0-428A-4E77-BA8F-5C300538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 measured advantage must survive practical alternatives</a:t>
            </a:r>
          </a:p>
        </p:txBody>
      </p:sp>
      <p:sp>
        <p:nvSpPr>
          <p:cNvPr id="127" name="1  Calibrate one water cell: slope, bias, tem">
            <a:extLst xmlns:a="http://schemas.openxmlformats.org/drawingml/2006/main">
              <a:ext uri="{FF2B5EF4-FFF2-40B4-BE49-F238E27FC236}">
                <a16:creationId xmlns:a16="http://schemas.microsoft.com/office/drawing/2014/main" id="{13581EB4-9280-4E40-A02E-EF1429EC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 Calibrate one water cell: slope, bias, temperature response and transmission.</a:t>
            </a:r>
          </a:p>
        </p:txBody>
      </p:sp>
      <p:sp>
        <p:nvSpPr>
          <p:cNvPr id="128" name="2  Test four taps with blind salt changes and">
            <a:extLst xmlns:a="http://schemas.openxmlformats.org/drawingml/2006/main">
              <a:ext uri="{FF2B5EF4-FFF2-40B4-BE49-F238E27FC236}">
                <a16:creationId xmlns:a16="http://schemas.microsoft.com/office/drawing/2014/main" id="{F1AF6535-F76E-4ACB-B413-44A87B79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 Test four taps with blind salt changes and matched coherent/squeezed budgets.</a:t>
            </a:r>
          </a:p>
        </p:txBody>
      </p:sp>
      <p:sp>
        <p:nvSpPr>
          <p:cNvPr id="129" name="3  Measure full energy, false alarms and dete">
            <a:extLst xmlns:a="http://schemas.openxmlformats.org/drawingml/2006/main">
              <a:ext uri="{FF2B5EF4-FFF2-40B4-BE49-F238E27FC236}">
                <a16:creationId xmlns:a16="http://schemas.microsoft.com/office/drawing/2014/main" id="{E0A12A01-9094-4C4F-8552-46FFE3FE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 Measure full energy, false alarms and detection delay before a 16-tap pilot.</a:t>
            </a:r>
          </a:p>
        </p:txBody>
      </p:sp>
      <p:sp>
        <p:nvSpPr>
          <p:cNvPr id="130" name="Proceed only if useful detection improves und">
            <a:extLst xmlns:a="http://schemas.openxmlformats.org/drawingml/2006/main">
              <a:ext uri="{FF2B5EF4-FFF2-40B4-BE49-F238E27FC236}">
                <a16:creationId xmlns:a16="http://schemas.microsoft.com/office/drawing/2014/main" id="{A23A7B6B-61A6-42B4-AF83-87827945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Proceed only if useful detection improves under an operator-relevant constraint.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0C8A8CD4-C15C-481E-8E9A-34824A81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3 / 15">
            <a:extLst xmlns:a="http://schemas.openxmlformats.org/drawingml/2006/main">
              <a:ext uri="{FF2B5EF4-FFF2-40B4-BE49-F238E27FC236}">
                <a16:creationId xmlns:a16="http://schemas.microsoft.com/office/drawing/2014/main" id="{8C0E8F05-3F59-4F77-82D1-42D65E26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hree measurable claims">
            <a:extLst xmlns:a="http://schemas.openxmlformats.org/drawingml/2006/main">
              <a:ext uri="{FF2B5EF4-FFF2-40B4-BE49-F238E27FC236}">
                <a16:creationId xmlns:a16="http://schemas.microsoft.com/office/drawing/2014/main" id="{A6D6609C-BB35-428C-AEBF-78F8B1C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measurable claims</a:t>
            </a:r>
          </a:p>
        </p:txBody>
      </p:sp>
      <p:sp>
        <p:nvSpPr>
          <p:cNvPr id="126" name="Simulation evidence today • Operational outco">
            <a:extLst xmlns:a="http://schemas.openxmlformats.org/drawingml/2006/main">
              <a:ext uri="{FF2B5EF4-FFF2-40B4-BE49-F238E27FC236}">
                <a16:creationId xmlns:a16="http://schemas.microsoft.com/office/drawing/2014/main" id="{8CA774FC-EAC6-4889-A9F7-DAE0941D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Simulation evidence today • Operational outcomes to measure next</a:t>
            </a:r>
          </a:p>
        </p:txBody>
      </p:sp>
      <p:sp>
        <p:nvSpPr>
          <p:cNvPr id="127" name="Estimation: 27.92% lower total RMSE at matche">
            <a:extLst xmlns:a="http://schemas.openxmlformats.org/drawingml/2006/main">
              <a:ext uri="{FF2B5EF4-FFF2-40B4-BE49-F238E27FC236}">
                <a16:creationId xmlns:a16="http://schemas.microsoft.com/office/drawing/2014/main" id="{0AFB502E-DCCD-40FE-89B7-7FF0A4A2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Estimation: 27.92% lower total RMSE at matched launched probe photons.</a:t>
            </a:r>
          </a:p>
        </p:txBody>
      </p:sp>
      <p:sp>
        <p:nvSpPr>
          <p:cNvPr id="128" name="Water monitoring: 24.3% → 47.3% detection of ">
            <a:extLst xmlns:a="http://schemas.openxmlformats.org/drawingml/2006/main">
              <a:ext uri="{FF2B5EF4-FFF2-40B4-BE49-F238E27FC236}">
                <a16:creationId xmlns:a16="http://schemas.microsoft.com/office/drawing/2014/main" id="{54ADDB76-E12C-4826-BEC9-DE2E343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monitoring: 24.3% → 47.3% detection of the specified salt-proxy step.</a:t>
            </a:r>
          </a:p>
        </p:txBody>
      </p:sp>
      <p:sp>
        <p:nvSpPr>
          <p:cNvPr id="129" name="Resource use: 160 nJ probe energy per pilot w">
            <a:extLst xmlns:a="http://schemas.openxmlformats.org/drawingml/2006/main">
              <a:ext uri="{FF2B5EF4-FFF2-40B4-BE49-F238E27FC236}">
                <a16:creationId xmlns:a16="http://schemas.microsoft.com/office/drawing/2014/main" id="{6C1C2EEA-F91E-4AE1-A09B-583B309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 use: 160 nJ probe energy per pilot window for both strategies.</a:t>
            </a:r>
          </a:p>
        </p:txBody>
      </p:sp>
      <p:sp>
        <p:nvSpPr>
          <p:cNvPr id="130" name="Liters saved, wall-plug energy and field adva">
            <a:extLst xmlns:a="http://schemas.openxmlformats.org/drawingml/2006/main">
              <a:ext uri="{FF2B5EF4-FFF2-40B4-BE49-F238E27FC236}">
                <a16:creationId xmlns:a16="http://schemas.microsoft.com/office/drawing/2014/main" id="{0383AAC7-4896-4116-955A-7B7A48CC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Liters saved, wall-plug energy and field advantage remain unmeasured.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349E1C6-5E29-4BB4-B559-6413B982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4 / 15">
            <a:extLst xmlns:a="http://schemas.openxmlformats.org/drawingml/2006/main">
              <a:ext uri="{FF2B5EF4-FFF2-40B4-BE49-F238E27FC236}">
                <a16:creationId xmlns:a16="http://schemas.microsoft.com/office/drawing/2014/main" id="{9B204AF4-DA9C-4536-93A5-B42E0FA9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FC77F711-2848-4140-946F-6E9C078203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Evidence and judge questions">
            <a:extLst xmlns:a="http://schemas.openxmlformats.org/drawingml/2006/main">
              <a:ext uri="{FF2B5EF4-FFF2-40B4-BE49-F238E27FC236}">
                <a16:creationId xmlns:a16="http://schemas.microsoft.com/office/drawing/2014/main" id="{B777C720-229D-492B-8C06-E244E608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judge questions</a:t>
            </a:r>
          </a:p>
        </p:txBody>
      </p:sp>
      <p:sp>
        <p:nvSpPr>
          <p:cNvPr id="126" name="Appendix • Full derivation, ten experiments a">
            <a:extLst xmlns:a="http://schemas.openxmlformats.org/drawingml/2006/main">
              <a:ext uri="{FF2B5EF4-FFF2-40B4-BE49-F238E27FC236}">
                <a16:creationId xmlns:a16="http://schemas.microsoft.com/office/drawing/2014/main" id="{7766356C-4B92-4AC4-9162-BAFA544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Appendix • Full derivation, ten experiments and source register in the report</a:t>
            </a:r>
          </a:p>
        </p:txBody>
      </p:sp>
      <p:sp>
        <p:nvSpPr>
          <p:cNvPr id="127" name="Why quantum? Correlated readouts improve the ">
            <a:extLst xmlns:a="http://schemas.openxmlformats.org/drawingml/2006/main">
              <a:ext uri="{FF2B5EF4-FFF2-40B4-BE49-F238E27FC236}">
                <a16:creationId xmlns:a16="http://schemas.microsoft.com/office/drawing/2014/main" id="{E8F2DC61-4538-4A7A-9F5E-A6BD06C7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quantum? Correlated readouts improve the specified mean under a dose budget.</a:t>
            </a:r>
          </a:p>
        </p:txBody>
      </p:sp>
      <p:sp>
        <p:nvSpPr>
          <p:cNvPr id="128" name="Practical alternative: ~28 nW/tap coherent ma">
            <a:extLst xmlns:a="http://schemas.openxmlformats.org/drawingml/2006/main">
              <a:ext uri="{FF2B5EF4-FFF2-40B4-BE49-F238E27FC236}">
                <a16:creationId xmlns:a16="http://schemas.microsoft.com/office/drawing/2014/main" id="{7BDE9637-85B8-4606-B119-7CF09EB3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Practical alternative: ~28 nW/tap coherent matches 10 nW/tap distributed RMSE.</a:t>
            </a:r>
          </a:p>
        </p:txBody>
      </p:sp>
      <p:sp>
        <p:nvSpPr>
          <p:cNvPr id="129" name="What is proven? Internal model checks; no har">
            <a:extLst xmlns:a="http://schemas.openxmlformats.org/drawingml/2006/main">
              <a:ext uri="{FF2B5EF4-FFF2-40B4-BE49-F238E27FC236}">
                <a16:creationId xmlns:a16="http://schemas.microsoft.com/office/drawing/2014/main" id="{36719D09-B2BC-4CC2-90DC-E73DEE5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proven? Internal model checks; no hardware or field claim.</a:t>
            </a:r>
          </a:p>
        </p:txBody>
      </p:sp>
      <p:sp>
        <p:nvSpPr>
          <p:cNvPr id="130" name="What is missing? Chemical specificity, low-fr">
            <a:extLst xmlns:a="http://schemas.openxmlformats.org/drawingml/2006/main">
              <a:ext uri="{FF2B5EF4-FFF2-40B4-BE49-F238E27FC236}">
                <a16:creationId xmlns:a16="http://schemas.microsoft.com/office/drawing/2014/main" id="{AA1FD912-3AAE-4EE5-89F7-DB64F33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What is missing? Chemical specificity, low-frequency stability, total cost and energy.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8890326-8B3D-4469-A6DF-8BBCA708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5 / 15">
            <a:extLst xmlns:a="http://schemas.openxmlformats.org/drawingml/2006/main">
              <a:ext uri="{FF2B5EF4-FFF2-40B4-BE49-F238E27FC236}">
                <a16:creationId xmlns:a16="http://schemas.microsoft.com/office/drawing/2014/main" id="{EC4B94EC-1181-4DAF-A5B1-B91189C9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954668650"/>
      </p:ext>
    </p:extLst>
  </p:cSld>
</p:sld>
</file>

<file path=ppt/theme/theme1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2026-10-07T15:56:22.1070000Z</dcterms:created>
  <dcterms:modified xsi:type="dcterms:W3CDTF">2026-10-07T15:56:22.1070000Z</dcterms:modified>
</coreProperties>
</file>
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11a3464a8b4deb" /><Relationship Type="http://schemas.openxmlformats.org/officeDocument/2006/relationships/extended-properties" Target="/docProps/app.xml" Id="R1f379f2baf284dd9" /><Relationship Type="http://schemas.openxmlformats.org/officeDocument/2006/relationships/officeDocument" Target="/ppt/presentation.xml" Id="Rfcc23934dfca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7b6ab21de476a"/>
  </p:sldMasterIdLst>
  <p:notesMasterIdLst>
    <p:notesMasterId xmlns:r="http://schemas.openxmlformats.org/officeDocument/2006/relationships" r:id="Rf3e10f4460164023"/>
  </p:notesMasterIdLst>
  <p:sldIdLst>
    <p:sldId xmlns:r="http://schemas.openxmlformats.org/officeDocument/2006/relationships" id="256" r:id="R2de426c704294ca8"/>
    <p:sldId xmlns:r="http://schemas.openxmlformats.org/officeDocument/2006/relationships" id="257" r:id="R5990572a30e44ee7"/>
    <p:sldId xmlns:r="http://schemas.openxmlformats.org/officeDocument/2006/relationships" id="258" r:id="R3fa4b415d77d46f9"/>
    <p:sldId xmlns:r="http://schemas.openxmlformats.org/officeDocument/2006/relationships" id="259" r:id="Ra0bf83866a7f4341"/>
    <p:sldId xmlns:r="http://schemas.openxmlformats.org/officeDocument/2006/relationships" id="260" r:id="R2852bc6e98ea4eb1"/>
    <p:sldId xmlns:r="http://schemas.openxmlformats.org/officeDocument/2006/relationships" id="261" r:id="Rc76c32d97a1b4201"/>
    <p:sldId xmlns:r="http://schemas.openxmlformats.org/officeDocument/2006/relationships" id="262" r:id="Rc0572b64a83f4f48"/>
    <p:sldId xmlns:r="http://schemas.openxmlformats.org/officeDocument/2006/relationships" id="263" r:id="R0b4aa7622a37428c"/>
    <p:sldId xmlns:r="http://schemas.openxmlformats.org/officeDocument/2006/relationships" id="264" r:id="Rdc9708432ba64fb7"/>
    <p:sldId xmlns:r="http://schemas.openxmlformats.org/officeDocument/2006/relationships" id="265" r:id="R26cd7c5027424cd2"/>
    <p:sldId xmlns:r="http://schemas.openxmlformats.org/officeDocument/2006/relationships" id="266" r:id="Re523e84b004f40be"/>
    <p:sldId xmlns:r="http://schemas.openxmlformats.org/officeDocument/2006/relationships" id="267" r:id="R115b0d00673145c6"/>
    <p:sldId xmlns:r="http://schemas.openxmlformats.org/officeDocument/2006/relationships" id="268" r:id="R47714689505942ec"/>
    <p:sldId xmlns:r="http://schemas.openxmlformats.org/officeDocument/2006/relationships" id="269" r:id="Re01910e94b27479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f4ce59f64a407e" /><Relationship Type="http://schemas.openxmlformats.org/officeDocument/2006/relationships/slideMaster" Target="/ppt/slideMasters/slideMaster1.xml" Id="R7437b6ab21de476a" /><Relationship Type="http://schemas.openxmlformats.org/officeDocument/2006/relationships/notesMaster" Target="/ppt/notesMasters/notesMaster1.xml" Id="Rf3e10f4460164023" /><Relationship Type="http://schemas.openxmlformats.org/officeDocument/2006/relationships/presProps" Target="/ppt/presProps.xml" Id="R615e3b03ea734692" /><Relationship Type="http://schemas.openxmlformats.org/officeDocument/2006/relationships/tableStyles" Target="/ppt/tableStyles.xml" Id="R60548a43427a44c3" /><Relationship Type="http://schemas.openxmlformats.org/officeDocument/2006/relationships/slide" Target="/ppt/slides/slide1.xml" Id="R2de426c704294ca8" /><Relationship Type="http://schemas.openxmlformats.org/officeDocument/2006/relationships/slide" Target="/ppt/slides/slide2.xml" Id="R5990572a30e44ee7" /><Relationship Type="http://schemas.openxmlformats.org/officeDocument/2006/relationships/slide" Target="/ppt/slides/slide3.xml" Id="R3fa4b415d77d46f9" /><Relationship Type="http://schemas.openxmlformats.org/officeDocument/2006/relationships/slide" Target="/ppt/slides/slide4.xml" Id="Ra0bf83866a7f4341" /><Relationship Type="http://schemas.openxmlformats.org/officeDocument/2006/relationships/slide" Target="/ppt/slides/slide5.xml" Id="R2852bc6e98ea4eb1" /><Relationship Type="http://schemas.openxmlformats.org/officeDocument/2006/relationships/slide" Target="/ppt/slides/slide6.xml" Id="Rc76c32d97a1b4201" /><Relationship Type="http://schemas.openxmlformats.org/officeDocument/2006/relationships/slide" Target="/ppt/slides/slide7.xml" Id="Rc0572b64a83f4f48" /><Relationship Type="http://schemas.openxmlformats.org/officeDocument/2006/relationships/slide" Target="/ppt/slides/slide8.xml" Id="R0b4aa7622a37428c" /><Relationship Type="http://schemas.openxmlformats.org/officeDocument/2006/relationships/slide" Target="/ppt/slides/slide9.xml" Id="Rdc9708432ba64fb7" /><Relationship Type="http://schemas.openxmlformats.org/officeDocument/2006/relationships/slide" Target="/ppt/slides/slide10.xml" Id="R26cd7c5027424cd2" /><Relationship Type="http://schemas.openxmlformats.org/officeDocument/2006/relationships/slide" Target="/ppt/slides/slide11.xml" Id="Re523e84b004f40be" /><Relationship Type="http://schemas.openxmlformats.org/officeDocument/2006/relationships/slide" Target="/ppt/slides/slide12.xml" Id="R115b0d00673145c6" /><Relationship Type="http://schemas.openxmlformats.org/officeDocument/2006/relationships/slide" Target="/ppt/slides/slide13.xml" Id="R47714689505942ec" /><Relationship Type="http://schemas.openxmlformats.org/officeDocument/2006/relationships/slide" Target="/ppt/slides/slide14.xml" Id="Re01910e94b2747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b7777dffe14c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fe6b562d0b4ee3" /><Relationship Type="http://schemas.openxmlformats.org/officeDocument/2006/relationships/notesMaster" Target="/ppt/notesMasters/notesMaster1.xml" Id="Rf14a57a8a7ff49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0523f81f3f4ca2" /><Relationship Type="http://schemas.openxmlformats.org/officeDocument/2006/relationships/notesMaster" Target="/ppt/notesMasters/notesMaster1.xml" Id="Rcf195e97b82843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cb3baf5cf472d" /><Relationship Type="http://schemas.openxmlformats.org/officeDocument/2006/relationships/notesMaster" Target="/ppt/notesMasters/notesMaster1.xml" Id="R71b740f5ee8940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43d20ca35b489f" /><Relationship Type="http://schemas.openxmlformats.org/officeDocument/2006/relationships/notesMaster" Target="/ppt/notesMasters/notesMaster1.xml" Id="R63b13140beb646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edea8e85544533" /><Relationship Type="http://schemas.openxmlformats.org/officeDocument/2006/relationships/notesMaster" Target="/ppt/notesMasters/notesMaster1.xml" Id="R69f7ddf1ce464f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387b6fa7449c6" /><Relationship Type="http://schemas.openxmlformats.org/officeDocument/2006/relationships/notesMaster" Target="/ppt/notesMasters/notesMaster1.xml" Id="R09ee4d403b98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86651e8bf74072" /><Relationship Type="http://schemas.openxmlformats.org/officeDocument/2006/relationships/notesMaster" Target="/ppt/notesMasters/notesMaster1.xml" Id="R6c69652dc4c14c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205f5c1a4b4c1e" /><Relationship Type="http://schemas.openxmlformats.org/officeDocument/2006/relationships/notesMaster" Target="/ppt/notesMasters/notesMaster1.xml" Id="R0096dcc56efa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20c8ceed5c451d" /><Relationship Type="http://schemas.openxmlformats.org/officeDocument/2006/relationships/notesMaster" Target="/ppt/notesMasters/notesMaster1.xml" Id="R8d44a249525347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f16444dff24a12" /><Relationship Type="http://schemas.openxmlformats.org/officeDocument/2006/relationships/notesMaster" Target="/ppt/notesMasters/notesMaster1.xml" Id="R3668f2cb13c24f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12d4a816046e4" /><Relationship Type="http://schemas.openxmlformats.org/officeDocument/2006/relationships/notesMaster" Target="/ppt/notesMasters/notesMaster1.xml" Id="Rb773dda04a9544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eec6415f58431c" /><Relationship Type="http://schemas.openxmlformats.org/officeDocument/2006/relationships/notesMaster" Target="/ppt/notesMasters/notesMaster1.xml" Id="R119f76f154a94c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a521a664ef4eb9" /><Relationship Type="http://schemas.openxmlformats.org/officeDocument/2006/relationships/notesMaster" Target="/ppt/notesMasters/notesMaster1.xml" Id="R62f35d4ab2fd41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00ea8b6fe242f0" /><Relationship Type="http://schemas.openxmlformats.org/officeDocument/2006/relationships/notesMaster" Target="/ppt/notesMasters/notesMaster1.xml" Id="Rca07bfdbdd55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Working team name confirmed by user. Final Arabic/English name, confirmed student/mentor roster with affiliations and contact details, team photo and team logo remain to be supplied. No identity or affiliation is invented. Result is 27.92% total RMSE reduction against coherent probes, at 10 nW/node, 1 s and assumed 50 µK common temperature residual. Source: results/summary.json. The supplied template says its presentation/demo guidance is for the in-person event; October ideation has no presentation. This deck is prepared for reuse and discussion.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Problem and SDG 6 impact: 20% of rubric. Proposed audience and value hypothesis, not a verified customer or field outcome. Refractive index is nonspecific. No safe-water certification, arsenic selectivity, liters saved, or health outcome is inferred. See docs/PROJECT_REPORT.md sections 1 and 8; NaCl calibration https://doi.org/10.1364/AO.55.000947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rigor: 30%. Classical matrix operations and Gaussian threshold tests; no quantum computing speedup, QAOA, VQE or QML execution. Covariance is propagated through loss and phase jitter. Objective is minimum error for an unbiased arithmetic-mean estimate under the stated resource constraints; no changing site weights to discard noisy nodes. Theory https://arxiv.org/abs/1711.10459 and https://doi.org/10.1103/PhysRevResearch.2.023030 . Classical estimator is computationally tractable. QC-specific eligibility must be confirmed with organizers. Hack stack: Python, NumPy, SciPy, Matplotlib. No quantum hardware has been built.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Quantum justification: 20%. This is a prediction for a proposed controlled instrument, not a measured water sensor. Optical RMSE .079619 vs .047583; total precision gain 1.387×. The ambitious common temperature residual is an engineering assumption. Probe photon accounting includes squeezed photons deducted from carrier power, but excludes pump and local oscillator energy.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results/summary.json pilot16. No measured-field accuracy claim. Common residual 50 microkelvin is an ambitious compensated bench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Fit uses M=33–64. Total squeezing Ns=.1M grows with M; fixed per-node carrier power also grows total probe energy. Ideal panel removes loss, phase jitter, technical errors and the 10 dB cap. It is not a forecast of field scaling. See figures/05_resource_accounting.png for fixed-total budgets and docs/MODEL.md. Consistent with qualified CV theory; no independent experimental proof.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Computed by src/model.py and results/summary.json. Per-node squeezed budget 0.1 photon/mode, total Ns=0.1 M; equal launched bright-plus-squeezed photon budgets. S4 asymptotic displacement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geometry is USGS-labelled input from the draft; no independent provenance or available fiber is established. Nearest 64 unique coordinates to assumed LA hub 34.05,-118.24; lengths 1.3×great-circle distances. Straight distances 3.5245–16.6434 km, mean routed length16.3847km. Fiber anchor .18dB/km, Corning AN2008. Changing M changes the sampled population. Coherent allocation F_i proportional to 1/sqrt(eta_i), relaxing individual power cap at fixed total photons. Source Ns capped2.025 photons/mode.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Water thermo-optic anchor https://opg.optica.org/abstract.cfm?uri=sensors-2012-STu1F.3 . At the NaCl slope, 1mK appears as .916mg/kg. 50µK controlled and10mK stress residuals are assumptions; neither is a manufacturer Gaussian noise claim. OU correlation60s. YSI temperature accuracy±.01C is contextual, not statistical conversion. Power sweep1nW–70µW in Figure10 independently tests a stronger classical alternative.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S10 reports dn/dT≈−1.485e−4 RIU/K at1550nm. The exact coefficient depends on temperature/composition. 0.05 mK and10 mK are assumed stochastic residuals, not manufacturer statistical specifications.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Analytic Gaussian ROC validated by100000 null and100000 alternative independent draws per strategy. This is marginal repeated-experiment validation, not an operational sequential detector. Temperature correlations, non-Gaussian tails and response lag require time-series validation. No regulatory threshold or guaranteed detection is implied. Measurable SDG6-related monitoring proxy, not measured environmental impact.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Offline demo: open figures/index.html and Figure07. Explain 16 different arrivals90–135s, mean amplitude.35mg/kg with±25% variation, rise25s, response10s,1s sampling. Shared thermal and calibration realization for both methods. Show Figure08 to change the discussion to loss/temperature limits, then Figure10 to challenge the low-power premise. No live hardware is represented. Stationary RMSE excludes transient lag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NaCl: Saunders https://doi.org/10.1364/AO.55.000947 ; squeezing Mehmet https://arxiv.org/abs/1110.3737 ; fiber https://www.corning.com/media/worldwide/coc/documents/Fiber/application-notes/AN2008.pdf ; thermo-optic Kim https://opg.optica.org/abstract.cfm?uri=sensors-2012-STu1F.3 . Supplied Dowran https://doi.org/10.1364/OPTICA.5.000628 reports795nm199kHz air sensitivities8.6/6.8/5.5e-10RIU/sqrtHz; not transferable to1s1550nm water. Supplied Pooser/Lawrie PDF is supporting information of a separate paper. QML https://doi.org/10.3390/quantum8030060 ; matched RBF remains strong. Complete sources and each config parameter in docs/PROJECT_REPORT.md AppendixA.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Sustainability/scalability15%. Business model is a hypothesis; avoid unsupported market size or demand claims. Seek water operator and optical lab partnership, with a budget based on equipment quotations. Local calibration and infrastructure review required for UAE/Arab-region and other deployments. Data access, incident privacy, maintenance and confirmatory sampling are future product requirements. YSI EXO contextual comparator https://www.ysi.com/product/id-599870/exo-conductivity--temperature-smart-sensor ; accuracy bounds are not a fair ratio to simulated differential RMSE.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research stages, not completed work or promised dates. Full electrical meter includes pump, local oscillator, locking, electronics and classical compute. Acceptance proposal: RMSE ratio confidence interval below1 with prespecified budgets, then time-based false-alarm target agreed with operator. Need evidence10nW dose constraint matters; if higher-power coherent or conventional sensing achieves same goal with lower burden, prefer it. Organizer confirmation needed that quantum sensing satisfies the rubric’s quantum-computing focus.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closing three claims from judging guidance. All pilot claims use16nodes,10nW/node,1s,50µK common residual. Detection uses.15mg/kg increase and1% false alarm per decision. Optical energy160nJ is equal resources, not measured sustainability improvement. Algorithm is estimator accuracy, not quantum computational runtime. Next KPI: total joules per validated useful detection at matched coverage, false-alarm rate and response time. Results do not prove/disprove literature: conditional model consistency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references: Dowran2018 https://doi.org/10.1364/OPTICA.5.000628 ; Pooser/Lawrie supplied supporting information; Abraham-Mexicano2026 https://doi.org/10.3390/quantum8030060 ; Zhuang2018 https://arxiv.org/abs/1711.10459 ; Oh2020 https://doi.org/10.1103/PhysRevResearch.2.023030 ; Guo2020 https://arxiv.org/abs/1905.09408 ; Saunders2016 https://doi.org/10.1364/AO.55.000947 ; Mehmet2011 https://arxiv.org/abs/1110.3737 . Full parameter provenance, remaining Kim/Corning/YSI references and assumptions: docs/PROJECT_REPORT.md AppendixA. Seed2601006, results/summary.json,13validationchecks. Team photo, roster, affiliations, team logo and final bilingual name are pending; working nameTeam7 authorized. Supplied judging weights20/20/30/15/15 addressed through defined use case, classical baselines, explicit estimator, resource limits, and honest communication.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c212b5c8042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c39c78dbf42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93b431e134c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4d6268c1442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4cc85ed6e43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96fb14b3048f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25528745b4a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92141dac443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547185e1743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4600b120d44b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babb460d64b2b" /></Relationships>
</file>

<file path=ppt/slideLayouts/slideLayout1.xml><?xml version="1.0" encoding="utf-8"?>
<p:sldLayout xmlns:p="http://schemas.openxmlformats.org/presentationml/2006/main" matchingName="Diapositive de titr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68E06254-558D-40FC-948C-0986CB84E3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3ED4DFA3-C8E9-4C3D-8972-CAFE96FECE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457200" marR="0" indent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914400" marR="0" indent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371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18288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E29DFE88-BF83-40F4-B441-50D112FB39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6A4E8A1A-F0E9-4C89-BC32-E0D3A9B79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852582DE-6504-46EF-9E99-FA08B7AB9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re et contenu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A510EC8A-6A2A-47DA-858C-C3C17BB54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180EAD04-E43E-443E-98DA-33DB76A4E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33DA6266-C7E7-48FD-B71F-72817D1D24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CEBDF589-CF75-4E2C-BF14-38E18CACCD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94C97CC9-6720-4E10-B7AB-F784491508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-tête de sectio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3F38F68-D5B9-4101-B84D-B82BE6761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5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5D4117D8-415E-4E57-9DAF-31179BB36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4BF4E009-F600-40BE-B56E-53B720B636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AB3E6A1-2981-403A-AC29-66521A478F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A8183CCB-3353-4CA9-93CA-3815C6F98A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eux contenu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8EEACEC4-58BE-43B8-B72F-CA6DD59A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EAA0A0BA-D2CC-44EB-ABEA-F0203C073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688038D8-80F5-4395-BAA0-13DACC5EF6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9FC62D7A-6C7C-40A1-8317-88F33EB7C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F2E368B9-6970-4500-BF22-9B07C7192D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EFBBF5A0-6D3D-44B1-A860-40B04ED368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9DB5D842-5876-4FE6-B21C-29A4B77AF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EF8D9956-77D6-4130-8DF7-99BA897D3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98D4EF25-E1CC-49AC-BC7F-449146E1A7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631156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96ADED8D-192A-4645-9DCB-7C99E3C645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151335"/>
            <a:ext cx="4041775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7EA46457-4F31-4228-B65F-ACC7AC31132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1631156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03B3CEB5-0163-4CED-9C50-03B0E836B3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AB3136BC-61D8-49BA-8B7F-D9935A1CB4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2E7080F7-BFDE-49A8-A08E-849480D6D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re seul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F3B687E8-16D8-4262-8454-D1613359D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9147F21C-2905-4549-A8AF-E2C473C41F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9BDEA95D-FF4B-4EE4-AFC5-1AA31742C8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452BD70C-6E2B-4AB2-AA7D-C378303BA4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V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6754B5E3-588D-4A03-B91F-8B3076C708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BE731C9-D5F0-48D8-AC2B-92FA7737C1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59B82DA-A1B6-49F2-AAC4-0243F31E30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u avec légende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C7E1649F-952A-4463-BDDB-9CB0A9DB2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4788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51E67DA3-08B1-437E-8B32-A49EDBBD77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04788"/>
            <a:ext cx="5111750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7BBA9B89-EA49-4C23-AB0B-7FB8330A44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076325"/>
            <a:ext cx="3008313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794DF29-D622-49A7-821B-E747DF707F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6C6A761D-680B-4C19-9143-F7B30FD207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CD51BD51-C0CF-4FC7-A2C0-62A52EF608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 avec légende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EAB384F3-FC8E-469A-8803-294A308C8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5A41EFE3-EB34-4F13-AB9B-63F277CE54C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459581"/>
            <a:ext cx="5486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513E5CEE-7EF6-446E-AED4-50F226B396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4025504"/>
            <a:ext cx="54864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2A5F395F-2AD7-4348-8B04-ECCEED515E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7831DB85-E243-4025-9399-28EB497B4C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449E4180-E10D-42BA-BE69-5A8CA31FE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re et texte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E7FDA7A2-4FD6-484F-B69E-8C26A0EB8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881CA865-53A6-4D46-BC49-CA4034A3B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874764" y="-1217414"/>
            <a:ext cx="3394472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DDAF7637-DEF7-48B3-8A02-2C4FDC7184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F8C550E7-D536-42EC-8739-AF7E86FEED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7FA05DDA-6107-49EE-8B84-71C53629CD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re vertical et texte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F72A76AF-8CD1-4CFA-9AD5-44D949310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463778" y="1371600"/>
            <a:ext cx="438864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EA36EB07-2EB3-4DE0-893F-C56B10F25E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272778" y="-609599"/>
            <a:ext cx="4388644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79090A00-A3C7-451C-8759-CDBE3422A3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CAAE7C37-6F43-4A4D-B051-CA945DD321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E7057B22-839A-4365-8C26-CC7B68C0BA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9b5f7708cc04c96" /><Relationship Type="http://schemas.openxmlformats.org/officeDocument/2006/relationships/theme" Target="/ppt/slideMasters/theme/theme2.xml" Id="R780abac3c9784e7d" /><Relationship Type="http://schemas.openxmlformats.org/officeDocument/2006/relationships/slideLayout" Target="/ppt/slideLayouts/slideLayout1.xml" Id="R6b25fe74f1974a29" /><Relationship Type="http://schemas.openxmlformats.org/officeDocument/2006/relationships/slideLayout" Target="/ppt/slideLayouts/slideLayout2.xml" Id="Rb49bb4bf3b4c4336" /><Relationship Type="http://schemas.openxmlformats.org/officeDocument/2006/relationships/slideLayout" Target="/ppt/slideLayouts/slideLayout3.xml" Id="R46ca270766d249bf" /><Relationship Type="http://schemas.openxmlformats.org/officeDocument/2006/relationships/slideLayout" Target="/ppt/slideLayouts/slideLayout4.xml" Id="Rf8f73190a7cc4cb7" /><Relationship Type="http://schemas.openxmlformats.org/officeDocument/2006/relationships/slideLayout" Target="/ppt/slideLayouts/slideLayout5.xml" Id="R53204babf3ae4574" /><Relationship Type="http://schemas.openxmlformats.org/officeDocument/2006/relationships/slideLayout" Target="/ppt/slideLayouts/slideLayout6.xml" Id="R73e22cd2f9304847" /><Relationship Type="http://schemas.openxmlformats.org/officeDocument/2006/relationships/slideLayout" Target="/ppt/slideLayouts/slideLayout7.xml" Id="R813682b8dca64566" /><Relationship Type="http://schemas.openxmlformats.org/officeDocument/2006/relationships/slideLayout" Target="/ppt/slideLayouts/slideLayout8.xml" Id="R40fc090e2e6b450a" /><Relationship Type="http://schemas.openxmlformats.org/officeDocument/2006/relationships/slideLayout" Target="/ppt/slideLayouts/slideLayout9.xml" Id="Rb6ce38c945b74bdb" /><Relationship Type="http://schemas.openxmlformats.org/officeDocument/2006/relationships/slideLayout" Target="/ppt/slideLayouts/slideLayout10.xml" Id="R8b592c2297844530" /><Relationship Type="http://schemas.openxmlformats.org/officeDocument/2006/relationships/slideLayout" Target="/ppt/slideLayouts/slideLayout11.xml" Id="Ree1c76da3e7e4e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4E02FCB-60CE-4D28-A012-A321044C4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3A1A559-5634-43B0-8AE0-24C3860C10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marR="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marR="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B00CCF6-EDB3-47A1-BC9D-6AEC815F42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7878DECC-CA6A-4B02-B0DB-8D090921CF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051FCA9B-9F93-40F8-88DB-E971542C8A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84F723D5-127C-407D-B11C-BF2EB7E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941" y="5056026"/>
            <a:ext cx="9180512" cy="108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Google Shape;12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5f7708cc04c9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675" y="0"/>
            <a:ext cx="1188326" cy="579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25fe74f1974a29"/>
    <p:sldLayoutId xmlns:r="http://schemas.openxmlformats.org/officeDocument/2006/relationships" id="2147483650" r:id="Rb49bb4bf3b4c4336"/>
    <p:sldLayoutId xmlns:r="http://schemas.openxmlformats.org/officeDocument/2006/relationships" id="2147483651" r:id="R46ca270766d249bf"/>
    <p:sldLayoutId xmlns:r="http://schemas.openxmlformats.org/officeDocument/2006/relationships" id="2147483652" r:id="Rf8f73190a7cc4cb7"/>
    <p:sldLayoutId xmlns:r="http://schemas.openxmlformats.org/officeDocument/2006/relationships" id="2147483653" r:id="R53204babf3ae4574"/>
    <p:sldLayoutId xmlns:r="http://schemas.openxmlformats.org/officeDocument/2006/relationships" id="2147483654" r:id="R73e22cd2f9304847"/>
    <p:sldLayoutId xmlns:r="http://schemas.openxmlformats.org/officeDocument/2006/relationships" id="2147483655" r:id="R813682b8dca64566"/>
    <p:sldLayoutId xmlns:r="http://schemas.openxmlformats.org/officeDocument/2006/relationships" id="2147483656" r:id="R40fc090e2e6b450a"/>
    <p:sldLayoutId xmlns:r="http://schemas.openxmlformats.org/officeDocument/2006/relationships" id="2147483657" r:id="Rb6ce38c945b74bdb"/>
    <p:sldLayoutId xmlns:r="http://schemas.openxmlformats.org/officeDocument/2006/relationships" id="2147483658" r:id="R8b592c2297844530"/>
    <p:sldLayoutId xmlns:r="http://schemas.openxmlformats.org/officeDocument/2006/relationships" id="2147483659" r:id="Ree1c76da3e7e4e1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67b186a5e412e" /><Relationship Type="http://schemas.openxmlformats.org/officeDocument/2006/relationships/notesSlide" Target="/ppt/notesSlides/notesSlide1.xml" Id="R82addf579ea247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b3079a0924d18" /><Relationship Type="http://schemas.openxmlformats.org/officeDocument/2006/relationships/notesSlide" Target="/ppt/notesSlides/notesSlide2.xml" Id="R4da1a562e52342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9dda067834e96" /><Relationship Type="http://schemas.openxmlformats.org/officeDocument/2006/relationships/notesSlide" Target="/ppt/notesSlides/notesSlide3.xml" Id="Rb38068a3ea5c49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afab43514e84" /><Relationship Type="http://schemas.openxmlformats.org/officeDocument/2006/relationships/chart" Target="/ppt/slides/charts/chart1.xml" Id="R76c830f9486c4f37" /><Relationship Type="http://schemas.openxmlformats.org/officeDocument/2006/relationships/notesSlide" Target="/ppt/notesSlides/notesSlide4.xml" Id="Ra2fee41e6a1e4d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9479eefb04184" /><Relationship Type="http://schemas.openxmlformats.org/officeDocument/2006/relationships/chart" Target="/ppt/slides/charts/chart2.xml" Id="R3f5839c61c094e16" /><Relationship Type="http://schemas.openxmlformats.org/officeDocument/2006/relationships/notesSlide" Target="/ppt/notesSlides/notesSlide5.xml" Id="R404cae51023c4c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5f8671e154ba1" /><Relationship Type="http://schemas.openxmlformats.org/officeDocument/2006/relationships/chart" Target="/ppt/slides/charts/chart3.xml" Id="Rc372c1f7396b49e2" /><Relationship Type="http://schemas.openxmlformats.org/officeDocument/2006/relationships/notesSlide" Target="/ppt/notesSlides/notesSlide6.xml" Id="R78d80d1a11e14d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a729dae8d46b8" /><Relationship Type="http://schemas.openxmlformats.org/officeDocument/2006/relationships/chart" Target="/ppt/slides/charts/chart4.xml" Id="Rc51e8870442a41a8" /><Relationship Type="http://schemas.openxmlformats.org/officeDocument/2006/relationships/notesSlide" Target="/ppt/notesSlides/notesSlide7.xml" Id="Rf76d01c18ad149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0275415ab476f" /><Relationship Type="http://schemas.openxmlformats.org/officeDocument/2006/relationships/chart" Target="/ppt/slides/charts/chart5.xml" Id="R8d5c0ad28ef84a6e" /><Relationship Type="http://schemas.openxmlformats.org/officeDocument/2006/relationships/notesSlide" Target="/ppt/notesSlides/notesSlide8.xml" Id="Rc2a182f55cc14a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a7ac8c16043d3" /><Relationship Type="http://schemas.openxmlformats.org/officeDocument/2006/relationships/chart" Target="/ppt/slides/charts/chart6.xml" Id="R8458d3f4ad3340ed" /><Relationship Type="http://schemas.openxmlformats.org/officeDocument/2006/relationships/notesSlide" Target="/ppt/notesSlides/notesSlide9.xml" Id="R7e77b5c848d748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9341f74644be3" /><Relationship Type="http://schemas.openxmlformats.org/officeDocument/2006/relationships/notesSlide" Target="/ppt/notesSlides/notesSlide10.xml" Id="R67dc479d61204d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76da06c1b49ed" /><Relationship Type="http://schemas.openxmlformats.org/officeDocument/2006/relationships/notesSlide" Target="/ppt/notesSlides/notesSlide11.xml" Id="R7d7a5f2872a14b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2a046df644d82" /><Relationship Type="http://schemas.openxmlformats.org/officeDocument/2006/relationships/notesSlide" Target="/ppt/notesSlides/notesSlide12.xml" Id="R96c63c1bf2ea4e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777757adf4035" /><Relationship Type="http://schemas.openxmlformats.org/officeDocument/2006/relationships/notesSlide" Target="/ppt/notesSlides/notesSlide13.xml" Id="R31da54b7186942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5d53254cd4d90" /><Relationship Type="http://schemas.openxmlformats.org/officeDocument/2006/relationships/notesSlide" Target="/ppt/notesSlides/notesSlide14.xml" Id="R08ab7f8282c6479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9B477791-8F58-4F5C-8266-BF4680FF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050" y="2128650"/>
            <a:ext cx="3561900" cy="7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26D97AD9-C8BC-4EC8-9ACE-CC6DBD1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50" y="3024950"/>
            <a:ext cx="6997800" cy="8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99C3CA53-0947-4EB3-8E5D-3DC0588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900" y="3825350"/>
            <a:ext cx="50325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2E9786DD-2582-40AF-9389-6BAF136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800" y="1323900"/>
            <a:ext cx="47364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B7B7B7"/>
                </a:solidFill>
              </a:rP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C55DFED8-A5F2-4F0D-A3D9-855A8659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5" y="0"/>
            <a:ext cx="7885800" cy="24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1" name="Team 7">
            <a:extLst xmlns:a="http://schemas.openxmlformats.org/drawingml/2006/main">
              <a:ext uri="{FF2B5EF4-FFF2-40B4-BE49-F238E27FC236}">
                <a16:creationId xmlns:a16="http://schemas.microsoft.com/office/drawing/2014/main" id="{0AFEDEFF-94BE-4AC3-8F78-ED71736A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6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7</a:t>
            </a:r>
          </a:p>
        </p:txBody>
      </p:sp>
      <p:sp>
        <p:nvSpPr>
          <p:cNvPr id="92" name="Quantum sensing for water-quality changes">
            <a:extLst xmlns:a="http://schemas.openxmlformats.org/drawingml/2006/main">
              <a:ext uri="{FF2B5EF4-FFF2-40B4-BE49-F238E27FC236}">
                <a16:creationId xmlns:a16="http://schemas.microsoft.com/office/drawing/2014/main" id="{12683679-3F31-4B35-AB93-B4DDBF9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5656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93" name="A continuous-variable simulation of a dissolv">
            <a:extLst xmlns:a="http://schemas.openxmlformats.org/drawingml/2006/main">
              <a:ext uri="{FF2B5EF4-FFF2-40B4-BE49-F238E27FC236}">
                <a16:creationId xmlns:a16="http://schemas.microsoft.com/office/drawing/2014/main" id="{ECE9ADC7-DE1A-4B07-AA13-B2BFE2C1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continuous-variable simulation of a dissolved-salt proxy</a:t>
            </a:r>
          </a:p>
        </p:txBody>
      </p:sp>
      <p:sp>
        <p:nvSpPr>
          <p:cNvPr id="94" name="28% lower modeled total error in a controlled">
            <a:extLst xmlns:a="http://schemas.openxmlformats.org/drawingml/2006/main">
              <a:ext uri="{FF2B5EF4-FFF2-40B4-BE49-F238E27FC236}">
                <a16:creationId xmlns:a16="http://schemas.microsoft.com/office/drawing/2014/main" id="{72759A7C-AA80-4986-8315-DB909518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28% lower modeled total error in a controlled 16-tap pilot</a:t>
            </a:r>
          </a:p>
        </p:txBody>
      </p:sp>
      <p:sp>
        <p:nvSpPr>
          <p:cNvPr id="95" name="NYUAD Hackathon • Research prototype • Octobe">
            <a:extLst xmlns:a="http://schemas.openxmlformats.org/drawingml/2006/main">
              <a:ext uri="{FF2B5EF4-FFF2-40B4-BE49-F238E27FC236}">
                <a16:creationId xmlns:a16="http://schemas.microsoft.com/office/drawing/2014/main" id="{C6FD71CE-34D9-4BF3-A3DA-A4B91007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NYUAD Hackathon • Research prototype • October 2026</a:t>
            </a:r>
          </a:p>
        </p:txBody>
      </p:sp>
      <p:sp>
        <p:nvSpPr>
          <p:cNvPr id="96" name="Roster, affiliations, team photo and team log">
            <a:extLst xmlns:a="http://schemas.openxmlformats.org/drawingml/2006/main">
              <a:ext uri="{FF2B5EF4-FFF2-40B4-BE49-F238E27FC236}">
                <a16:creationId xmlns:a16="http://schemas.microsoft.com/office/drawing/2014/main" id="{291CE999-DA2A-45DB-98D5-45D0E5AF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785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Roster, affiliations, team photo and team logo to be added</a:t>
            </a:r>
          </a:p>
        </p:txBody>
      </p:sp>
      <p:sp>
        <p:nvSpPr>
          <p:cNvPr id="97" name="1 / 14">
            <a:extLst xmlns:a="http://schemas.openxmlformats.org/drawingml/2006/main">
              <a:ext uri="{FF2B5EF4-FFF2-40B4-BE49-F238E27FC236}">
                <a16:creationId xmlns:a16="http://schemas.microsoft.com/office/drawing/2014/main" id="{338187A3-AEB5-4542-9C9E-2A1EBEB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630487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40BAEB86-16C7-4EAC-9B39-BA3EAE4E56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6400" y="1345500"/>
            <a:ext cx="8266200" cy="65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9AFD128E-D386-4A9C-9EC3-A92D3F974BD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6400" y="2002505"/>
            <a:ext cx="7471200" cy="65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37A91F58-C10D-4C49-9DDB-2509266303B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5575" y="2555375"/>
            <a:ext cx="7995600" cy="254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600" b="1"/>
              <a:t/>
            </a:r>
            <a:endParaRPr sz="1600" b="1"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2FB9C6F3-E93B-494A-9A58-AAF93205C8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11875" y="607426"/>
            <a:ext cx="7471200" cy="65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3600" b="1"/>
          </a:p>
        </p:txBody>
      </p:sp>
      <p:sp>
        <p:nvSpPr>
          <p:cNvPr id="99" name="The problem / the solution">
            <a:extLst xmlns:a="http://schemas.openxmlformats.org/drawingml/2006/main">
              <a:ext uri="{FF2B5EF4-FFF2-40B4-BE49-F238E27FC236}">
                <a16:creationId xmlns:a16="http://schemas.microsoft.com/office/drawing/2014/main" id="{72CD4ABF-233C-42E6-AEB5-5F9342B1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problem / the solution</a:t>
            </a:r>
          </a:p>
        </p:txBody>
      </p:sp>
      <p:sp>
        <p:nvSpPr>
          <p:cNvPr id="100" name="SDG 6 relevance • Market / audience">
            <a:extLst xmlns:a="http://schemas.openxmlformats.org/drawingml/2006/main">
              <a:ext uri="{FF2B5EF4-FFF2-40B4-BE49-F238E27FC236}">
                <a16:creationId xmlns:a16="http://schemas.microsoft.com/office/drawing/2014/main" id="{D4CBCA52-479D-4A27-8B06-638737E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SDG 6 relevance • Market / audience</a:t>
            </a:r>
          </a:p>
        </p:txBody>
      </p:sp>
      <p:sp>
        <p:nvSpPr>
          <p:cNvPr id="101" name="User: a treatment or reuse operator investiga">
            <a:extLst xmlns:a="http://schemas.openxmlformats.org/drawingml/2006/main">
              <a:ext uri="{FF2B5EF4-FFF2-40B4-BE49-F238E27FC236}">
                <a16:creationId xmlns:a16="http://schemas.microsoft.com/office/drawing/2014/main" id="{1237193A-4C4A-4257-81DD-EF6C1877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User: a treatment or reuse operator investigating small changes across sampling taps.</a:t>
            </a:r>
          </a:p>
        </p:txBody>
      </p:sp>
      <p:sp>
        <p:nvSpPr>
          <p:cNvPr id="102" name="Solution: estimate the mean dissolved-salt ch">
            <a:extLst xmlns:a="http://schemas.openxmlformats.org/drawingml/2006/main">
              <a:ext uri="{FF2B5EF4-FFF2-40B4-BE49-F238E27FC236}">
                <a16:creationId xmlns:a16="http://schemas.microsoft.com/office/drawing/2014/main" id="{D474ADD4-3F0D-4B33-861D-AA8D9661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Solution: estimate the mean dissolved-salt change with correlated optical readouts.</a:t>
            </a:r>
          </a:p>
        </p:txBody>
      </p:sp>
      <p:sp>
        <p:nvSpPr>
          <p:cNvPr id="103" name="Value hypothesis: detect a validated change s">
            <a:extLst xmlns:a="http://schemas.openxmlformats.org/drawingml/2006/main">
              <a:ext uri="{FF2B5EF4-FFF2-40B4-BE49-F238E27FC236}">
                <a16:creationId xmlns:a16="http://schemas.microsoft.com/office/drawing/2014/main" id="{6DE8AD5F-D22A-42E6-A891-EAC0669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Value hypothesis: detect a validated change sooner and trigger confirmatory testing.</a:t>
            </a:r>
          </a:p>
        </p:txBody>
      </p:sp>
      <p:sp>
        <p:nvSpPr>
          <p:cNvPr id="104" name="Scope: NaCl-equivalent change screening; poll">
            <a:extLst xmlns:a="http://schemas.openxmlformats.org/drawingml/2006/main">
              <a:ext uri="{FF2B5EF4-FFF2-40B4-BE49-F238E27FC236}">
                <a16:creationId xmlns:a16="http://schemas.microsoft.com/office/drawing/2014/main" id="{1A4CDEA7-0FF6-4B9E-A3A5-700156C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Scope: NaCl-equivalent change screening; pollutant identity remains unresolved.</a:t>
            </a:r>
          </a:p>
        </p:txBody>
      </p:sp>
      <p:sp>
        <p:nvSpPr>
          <p:cNvPr id="10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678E3BC-5C68-4C00-8597-94B1551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06" name="2 / 14">
            <a:extLst xmlns:a="http://schemas.openxmlformats.org/drawingml/2006/main">
              <a:ext uri="{FF2B5EF4-FFF2-40B4-BE49-F238E27FC236}">
                <a16:creationId xmlns:a16="http://schemas.microsoft.com/office/drawing/2014/main" id="{E6A2F1D2-A378-4656-A151-4D5EC25B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</p:spTree>
    <p:extLst>
      <p:ext uri="{BB962C8B-B14F-4D97-AF65-F5344CB8AC3E}">
        <p14:creationId xmlns:p14="http://schemas.microsoft.com/office/powerpoint/2010/main" val="2035203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7FCDF917-1483-4943-800B-0015E13EF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6400" y="881200"/>
            <a:ext cx="8090700" cy="105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200" b="1"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BF8BEBB7-5315-439D-9C0D-3D768CFF031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8100" y="1933000"/>
            <a:ext cx="8167800" cy="13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4D6DC282-81D0-4AC6-B8E5-6DF13785E48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6400" y="3280901"/>
            <a:ext cx="7471200" cy="105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 i="0" u="none" cap="none">
              <a:solidFill>
                <a:srgbClr val="B7B7B7"/>
              </a:solidFill>
            </a:endParaRPr>
          </a:p>
        </p:txBody>
      </p:sp>
      <p:sp>
        <p:nvSpPr>
          <p:cNvPr id="106" name="Hack stack and measurement model">
            <a:extLst xmlns:a="http://schemas.openxmlformats.org/drawingml/2006/main">
              <a:ext uri="{FF2B5EF4-FFF2-40B4-BE49-F238E27FC236}">
                <a16:creationId xmlns:a16="http://schemas.microsoft.com/office/drawing/2014/main" id="{61F8BDB0-3D0C-438F-A014-30A4B82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Hack stack and measurement model</a:t>
            </a:r>
          </a:p>
        </p:txBody>
      </p:sp>
      <p:sp>
        <p:nvSpPr>
          <p:cNvPr id="107" name="Squeezed source → sample taps → homodyne → cl">
            <a:extLst xmlns:a="http://schemas.openxmlformats.org/drawingml/2006/main">
              <a:ext uri="{FF2B5EF4-FFF2-40B4-BE49-F238E27FC236}">
                <a16:creationId xmlns:a16="http://schemas.microsoft.com/office/drawing/2014/main" id="{B85A7FA7-71A4-4AF8-A5B7-BC9A734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Squeezed source → sample taps → homodyne → classical estimator</a:t>
            </a:r>
          </a:p>
        </p:txBody>
      </p:sp>
      <p:sp>
        <p:nvSpPr>
          <p:cNvPr id="108" name="Input: arbitrary local concentration changes,">
            <a:extLst xmlns:a="http://schemas.openxmlformats.org/drawingml/2006/main">
              <a:ext uri="{FF2B5EF4-FFF2-40B4-BE49-F238E27FC236}">
                <a16:creationId xmlns:a16="http://schemas.microsoft.com/office/drawing/2014/main" id="{BAF80CD2-A71E-4534-A1D7-F0EEC95D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Input: arbitrary local concentration changes, link losses and a fixed probe budget.</a:t>
            </a:r>
          </a:p>
        </p:txBody>
      </p:sp>
      <p:sp>
        <p:nvSpPr>
          <p:cNvPr id="109" name="Algorithm: Gaussian covariance propagation; m">
            <a:extLst xmlns:a="http://schemas.openxmlformats.org/drawingml/2006/main">
              <a:ext uri="{FF2B5EF4-FFF2-40B4-BE49-F238E27FC236}">
                <a16:creationId xmlns:a16="http://schemas.microsoft.com/office/drawing/2014/main" id="{06CC0FF3-E26C-449C-BE3C-FD8A3720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Algorithm: Gaussian covariance propagation; mean estimate q̂ = Σ yᵢ / M.</a:t>
            </a:r>
          </a:p>
        </p:txBody>
      </p:sp>
      <p:sp>
        <p:nvSpPr>
          <p:cNvPr id="110" name="Compare coherent probes, independent squeezer">
            <a:extLst xmlns:a="http://schemas.openxmlformats.org/drawingml/2006/main">
              <a:ext uri="{FF2B5EF4-FFF2-40B4-BE49-F238E27FC236}">
                <a16:creationId xmlns:a16="http://schemas.microsoft.com/office/drawing/2014/main" id="{13E4BF4E-5C2F-403D-9385-3F8222F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coherent probes, independent squeezers and one distributed squeezed state.</a:t>
            </a:r>
          </a:p>
        </p:txBody>
      </p:sp>
      <p:sp>
        <p:nvSpPr>
          <p:cNvPr id="111" name="Classical simulator; the proposed advantage i">
            <a:extLst xmlns:a="http://schemas.openxmlformats.org/drawingml/2006/main">
              <a:ext uri="{FF2B5EF4-FFF2-40B4-BE49-F238E27FC236}">
                <a16:creationId xmlns:a16="http://schemas.microsoft.com/office/drawing/2014/main" id="{18299182-B9DC-4CDD-8D8C-63EF0F96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Classical simulator; the proposed advantage is quantum sensing, not a computing speedup.</a:t>
            </a:r>
          </a:p>
        </p:txBody>
      </p:sp>
      <p:sp>
        <p:nvSpPr>
          <p:cNvPr id="112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7B657F6-167D-48A6-8625-BAD17C9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3" name="3 / 14">
            <a:extLst xmlns:a="http://schemas.openxmlformats.org/drawingml/2006/main">
              <a:ext uri="{FF2B5EF4-FFF2-40B4-BE49-F238E27FC236}">
                <a16:creationId xmlns:a16="http://schemas.microsoft.com/office/drawing/2014/main" id="{195BDBEF-4D2B-47A1-842F-83671A06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</p:spTree>
    <p:extLst>
      <p:ext uri="{BB962C8B-B14F-4D97-AF65-F5344CB8AC3E}">
        <p14:creationId xmlns:p14="http://schemas.microsoft.com/office/powerpoint/2010/main" val="729843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F0345452-76F6-43A9-A3DD-6C4CCB95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0" y="1645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FBFE6EE0-422A-4EBC-ABB4-3C52663D4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"/>
            <a:ext cx="8229600" cy="8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90A99FB9-60E2-492C-940F-A276D51442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-9650" y="857400"/>
            <a:ext cx="9144000" cy="43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rPr sz="1000" b="1"/>
              <a:t/>
            </a:r>
            <a:endParaRPr sz="1000" b="1"/>
          </a:p>
        </p:txBody>
      </p:sp>
      <p:sp>
        <p:nvSpPr>
          <p:cNvPr id="113" name="28% lower total error in the pilot">
            <a:extLst xmlns:a="http://schemas.openxmlformats.org/drawingml/2006/main">
              <a:ext uri="{FF2B5EF4-FFF2-40B4-BE49-F238E27FC236}">
                <a16:creationId xmlns:a16="http://schemas.microsoft.com/office/drawing/2014/main" id="{A6B184A1-0C8D-4C81-8B31-05B984ED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28% lower total error in the pilot</a:t>
            </a:r>
          </a:p>
        </p:txBody>
      </p:sp>
      <p:sp>
        <p:nvSpPr>
          <p:cNvPr id="114" name="16 taps • 100 m links • 10 nW/node • 1 s • 50">
            <a:extLst xmlns:a="http://schemas.openxmlformats.org/drawingml/2006/main">
              <a:ext uri="{FF2B5EF4-FFF2-40B4-BE49-F238E27FC236}">
                <a16:creationId xmlns:a16="http://schemas.microsoft.com/office/drawing/2014/main" id="{3E0C6933-9038-4DE9-81A6-CD472F50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16 taps • 100 m links • 10 nW/node • 1 s • 50 µK common residual</a:t>
            </a:r>
          </a:p>
        </p:txBody>
      </p:sp>
      <p:graphicFrame>
        <p:nvGraphicFramePr>
          <p:cNvPr id="12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c830f9486c4f37"/>
          </a:graphicData>
        </a:graphic>
      </p:graphicFrame>
      <p:sp>
        <p:nvSpPr>
          <p:cNvPr id="116" name="Coherent 0.0921 → distributed 0.0664 mg/kg to">
            <a:extLst xmlns:a="http://schemas.openxmlformats.org/drawingml/2006/main">
              <a:ext uri="{FF2B5EF4-FFF2-40B4-BE49-F238E27FC236}">
                <a16:creationId xmlns:a16="http://schemas.microsoft.com/office/drawing/2014/main" id="{214F6E8E-F620-40B9-865B-3FCDBF9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Coherent 0.0921 → distributed 0.0664 mg/kg total RMSE</a:t>
            </a:r>
          </a:p>
        </p:txBody>
      </p:sp>
      <p:sp>
        <p:nvSpPr>
          <p:cNvPr id="117" name="16.6% lower RMSE than independent squeezing; ">
            <a:extLst xmlns:a="http://schemas.openxmlformats.org/drawingml/2006/main">
              <a:ext uri="{FF2B5EF4-FFF2-40B4-BE49-F238E27FC236}">
                <a16:creationId xmlns:a16="http://schemas.microsoft.com/office/drawing/2014/main" id="{8B5AF632-033C-407A-90E2-A0597AC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16.6% lower RMSE than independent squeezing; same launched probe photons</a:t>
            </a:r>
          </a:p>
        </p:txBody>
      </p:sp>
      <p:sp>
        <p:nvSpPr>
          <p:cNvPr id="118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3E08AD8-7BC1-47B3-B3A8-52325428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9" name="4 / 14">
            <a:extLst xmlns:a="http://schemas.openxmlformats.org/drawingml/2006/main">
              <a:ext uri="{FF2B5EF4-FFF2-40B4-BE49-F238E27FC236}">
                <a16:creationId xmlns:a16="http://schemas.microsoft.com/office/drawing/2014/main" id="{C1E2310B-8C4C-41B9-B03D-30A8AFF8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</p:spTree>
    <p:extLst>
      <p:ext uri="{BB962C8B-B14F-4D97-AF65-F5344CB8AC3E}">
        <p14:creationId xmlns:p14="http://schemas.microsoft.com/office/powerpoint/2010/main" val="1091547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2A1D47B5-A937-411C-A136-76EFC9E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0" y="1645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52C5390B-9578-4869-9F80-F5A919C73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"/>
            <a:ext cx="8229600" cy="8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0505B359-1479-4B11-AC48-D6B67F30BB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857400"/>
            <a:ext cx="9144000" cy="318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000" b="1"/>
          </a:p>
        </p:txBody>
      </p:sp>
      <p:sp>
        <p:nvSpPr>
          <p:cNvPr id="120" name="Ideal scaling has resource conditions">
            <a:extLst xmlns:a="http://schemas.openxmlformats.org/drawingml/2006/main">
              <a:ext uri="{FF2B5EF4-FFF2-40B4-BE49-F238E27FC236}">
                <a16:creationId xmlns:a16="http://schemas.microsoft.com/office/drawing/2014/main" id="{DD9A2A91-85EA-4BA0-9DCF-8FF412A3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Ideal scaling has resource conditions</a:t>
            </a:r>
          </a:p>
        </p:txBody>
      </p:sp>
      <p:sp>
        <p:nvSpPr>
          <p:cNvPr id="121" name="Lossless reference • Growing total squeezing ">
            <a:extLst xmlns:a="http://schemas.openxmlformats.org/drawingml/2006/main">
              <a:ext uri="{FF2B5EF4-FFF2-40B4-BE49-F238E27FC236}">
                <a16:creationId xmlns:a16="http://schemas.microsoft.com/office/drawing/2014/main" id="{92700306-D12D-43A3-90B0-8FF06F6F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Lossless reference • Growing total squeezing • No practical source cap</a:t>
            </a:r>
          </a:p>
        </p:txBody>
      </p:sp>
      <p:graphicFrame>
        <p:nvGraphicFramePr>
          <p:cNvPr id="132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5839c61c094e16"/>
          </a:graphicData>
        </a:graphic>
      </p:graphicFrame>
      <p:sp>
        <p:nvSpPr>
          <p:cNvPr id="123" name="Fitted RMS slope: −0.953 distributed versus −">
            <a:extLst xmlns:a="http://schemas.openxmlformats.org/drawingml/2006/main">
              <a:ext uri="{FF2B5EF4-FFF2-40B4-BE49-F238E27FC236}">
                <a16:creationId xmlns:a16="http://schemas.microsoft.com/office/drawing/2014/main" id="{EBA2FB58-455A-4F33-A436-4AF0940C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Fitted RMS slope: −0.953 distributed versus −0.500 coherent</a:t>
            </a:r>
          </a:p>
        </p:txBody>
      </p:sp>
      <p:sp>
        <p:nvSpPr>
          <p:cNvPr id="124" name="Loss and a finite source cap remove the asymp">
            <a:extLst xmlns:a="http://schemas.openxmlformats.org/drawingml/2006/main">
              <a:ext uri="{FF2B5EF4-FFF2-40B4-BE49-F238E27FC236}">
                <a16:creationId xmlns:a16="http://schemas.microsoft.com/office/drawing/2014/main" id="{49ACCB15-9AB6-4915-A481-682516F0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Loss and a finite source cap remove the asymptotic exponent advantage</a:t>
            </a:r>
          </a:p>
        </p:txBody>
      </p:sp>
      <p:sp>
        <p:nvSpPr>
          <p:cNvPr id="12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4F87BA6-7C60-47E5-9453-AC91A65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6" name="5 / 14">
            <a:extLst xmlns:a="http://schemas.openxmlformats.org/drawingml/2006/main">
              <a:ext uri="{FF2B5EF4-FFF2-40B4-BE49-F238E27FC236}">
                <a16:creationId xmlns:a16="http://schemas.microsoft.com/office/drawing/2014/main" id="{8EC738C4-F696-4A7F-B515-F9B372A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</p:spTree>
    <p:extLst>
      <p:ext uri="{BB962C8B-B14F-4D97-AF65-F5344CB8AC3E}">
        <p14:creationId xmlns:p14="http://schemas.microsoft.com/office/powerpoint/2010/main" val="1877597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Regional gain shrinks to 1.11×">
            <a:extLst xmlns:a="http://schemas.openxmlformats.org/drawingml/2006/main">
              <a:ext uri="{FF2B5EF4-FFF2-40B4-BE49-F238E27FC236}">
                <a16:creationId xmlns:a16="http://schemas.microsoft.com/office/drawing/2014/main" id="{46A91036-0AED-4DA2-BE1D-9A7F0D24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gain shrinks to 1.11×</a:t>
            </a:r>
          </a:p>
        </p:txBody>
      </p:sp>
      <p:sp>
        <p:nvSpPr>
          <p:cNvPr id="126" name="64 distinct supplied coordinates • Assumed ro">
            <a:extLst xmlns:a="http://schemas.openxmlformats.org/drawingml/2006/main">
              <a:ext uri="{FF2B5EF4-FFF2-40B4-BE49-F238E27FC236}">
                <a16:creationId xmlns:a16="http://schemas.microsoft.com/office/drawing/2014/main" id="{A1276BB8-87D7-4040-83C5-64DC1DD1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64 distinct supplied coordinates • Assumed routes • Optimized coherent baseline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72c1f7396b49e2"/>
          </a:graphicData>
        </a:graphic>
      </p:graphicFrame>
      <p:sp>
        <p:nvSpPr>
          <p:cNvPr id="128" name="Mean transmission 0.371; longer links replace">
            <a:extLst xmlns:a="http://schemas.openxmlformats.org/drawingml/2006/main">
              <a:ext uri="{FF2B5EF4-FFF2-40B4-BE49-F238E27FC236}">
                <a16:creationId xmlns:a16="http://schemas.microsoft.com/office/drawing/2014/main" id="{5A5F4A5A-3F4B-4BE3-ADCC-38D0027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Mean transmission 0.371; longer links replace squeezing with vacuum noise</a:t>
            </a:r>
          </a:p>
        </p:txBody>
      </p:sp>
      <p:sp>
        <p:nvSpPr>
          <p:cNvPr id="129" name="Total RMSE: optimized coherent 0.0729 → distr">
            <a:extLst xmlns:a="http://schemas.openxmlformats.org/drawingml/2006/main">
              <a:ext uri="{FF2B5EF4-FFF2-40B4-BE49-F238E27FC236}">
                <a16:creationId xmlns:a16="http://schemas.microsoft.com/office/drawing/2014/main" id="{BD0C14E4-9CC2-4811-BC9B-A1CB06A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Total RMSE: optimized coherent 0.0729 → distributed 0.0655 mg/kg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64D9467-444E-4BF8-B65E-3668ED0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6 / 14">
            <a:extLst xmlns:a="http://schemas.openxmlformats.org/drawingml/2006/main">
              <a:ext uri="{FF2B5EF4-FFF2-40B4-BE49-F238E27FC236}">
                <a16:creationId xmlns:a16="http://schemas.microsoft.com/office/drawing/2014/main" id="{E949A63F-B521-406B-85DD-8FB1A78D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emperature can erase the benefit">
            <a:extLst xmlns:a="http://schemas.openxmlformats.org/drawingml/2006/main">
              <a:ext uri="{FF2B5EF4-FFF2-40B4-BE49-F238E27FC236}">
                <a16:creationId xmlns:a16="http://schemas.microsoft.com/office/drawing/2014/main" id="{905B4848-FE91-4171-A827-C77F2C50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 can erase the benefit</a:t>
            </a:r>
          </a:p>
        </p:txBody>
      </p:sp>
      <p:sp>
        <p:nvSpPr>
          <p:cNvPr id="126" name="Common drift does not average away across mor">
            <a:extLst xmlns:a="http://schemas.openxmlformats.org/drawingml/2006/main">
              <a:ext uri="{FF2B5EF4-FFF2-40B4-BE49-F238E27FC236}">
                <a16:creationId xmlns:a16="http://schemas.microsoft.com/office/drawing/2014/main" id="{0444999E-E596-49EC-9862-34AB1FAB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Common drift does not average away across more sensors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1e8870442a41a8"/>
          </a:graphicData>
        </a:graphic>
      </p:graphicFrame>
      <p:sp>
        <p:nvSpPr>
          <p:cNvPr id="128" name="10 mK residual → about 9.137 mg/kg error for ">
            <a:extLst xmlns:a="http://schemas.openxmlformats.org/drawingml/2006/main">
              <a:ext uri="{FF2B5EF4-FFF2-40B4-BE49-F238E27FC236}">
                <a16:creationId xmlns:a16="http://schemas.microsoft.com/office/drawing/2014/main" id="{85A29E5A-241C-4DE5-9B96-15474750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10 mK residual → about 9.137 mg/kg error for either strategy</a:t>
            </a:r>
          </a:p>
        </p:txBody>
      </p:sp>
      <p:sp>
        <p:nvSpPr>
          <p:cNvPr id="129" name="More classical probe power also narrows the a">
            <a:extLst xmlns:a="http://schemas.openxmlformats.org/drawingml/2006/main">
              <a:ext uri="{FF2B5EF4-FFF2-40B4-BE49-F238E27FC236}">
                <a16:creationId xmlns:a16="http://schemas.microsoft.com/office/drawing/2014/main" id="{42A6A74A-D89C-4A9F-BB3F-ED9ACBD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More classical probe power also narrows the advantage: validate the low-dose need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D8773D3-0DE3-4B84-AC45-00C7562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7 / 14">
            <a:extLst xmlns:a="http://schemas.openxmlformats.org/drawingml/2006/main">
              <a:ext uri="{FF2B5EF4-FFF2-40B4-BE49-F238E27FC236}">
                <a16:creationId xmlns:a16="http://schemas.microsoft.com/office/drawing/2014/main" id="{432E2B1B-1C49-4345-B3B6-30E5A67A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A matched detection comparison">
            <a:extLst xmlns:a="http://schemas.openxmlformats.org/drawingml/2006/main">
              <a:ext uri="{FF2B5EF4-FFF2-40B4-BE49-F238E27FC236}">
                <a16:creationId xmlns:a16="http://schemas.microsoft.com/office/drawing/2014/main" id="{60FAD428-B3E9-4437-B59B-537FC7B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matched detection comparison</a:t>
            </a:r>
          </a:p>
        </p:txBody>
      </p:sp>
      <p:sp>
        <p:nvSpPr>
          <p:cNvPr id="126" name="0.15 mg/kg step • 16 taps • 1 s • 1% false al">
            <a:extLst xmlns:a="http://schemas.openxmlformats.org/drawingml/2006/main">
              <a:ext uri="{FF2B5EF4-FFF2-40B4-BE49-F238E27FC236}">
                <a16:creationId xmlns:a16="http://schemas.microsoft.com/office/drawing/2014/main" id="{04A8A2BC-0145-4CBA-99E1-8C1251C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0.15 mg/kg step • 16 taps • 1 s • 1% false alarm per decision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5c0ad28ef84a6e"/>
          </a:graphicData>
        </a:graphic>
      </p:graphicFrame>
      <p:sp>
        <p:nvSpPr>
          <p:cNvPr id="128" name="Detection probability rises from 24.3% to 47.">
            <a:extLst xmlns:a="http://schemas.openxmlformats.org/drawingml/2006/main">
              <a:ext uri="{FF2B5EF4-FFF2-40B4-BE49-F238E27FC236}">
                <a16:creationId xmlns:a16="http://schemas.microsoft.com/office/drawing/2014/main" id="{6CDEF61A-3538-43ED-A68F-03ED2C70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Detection probability rises from 24.3% to 47.3% under the model</a:t>
            </a:r>
          </a:p>
        </p:txBody>
      </p:sp>
      <p:sp>
        <p:nvSpPr>
          <p:cNvPr id="129" name="1% at 1 Hz means 36 expected flagged windows/">
            <a:extLst xmlns:a="http://schemas.openxmlformats.org/drawingml/2006/main">
              <a:ext uri="{FF2B5EF4-FFF2-40B4-BE49-F238E27FC236}">
                <a16:creationId xmlns:a16="http://schemas.microsoft.com/office/drawing/2014/main" id="{23301597-4EDC-4DF5-ABCB-95CD0FFA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1% at 1 Hz means 36 expected flagged windows/hour: an alarm policy is still needed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3FE2FDDD-D7F8-4F32-9B98-8FB573DC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8 / 14">
            <a:extLst xmlns:a="http://schemas.openxmlformats.org/drawingml/2006/main">
              <a:ext uri="{FF2B5EF4-FFF2-40B4-BE49-F238E27FC236}">
                <a16:creationId xmlns:a16="http://schemas.microsoft.com/office/drawing/2014/main" id="{CE085373-98B1-4899-9AC9-803271A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Demo: continuous monitoring">
            <a:extLst xmlns:a="http://schemas.openxmlformats.org/drawingml/2006/main">
              <a:ext uri="{FF2B5EF4-FFF2-40B4-BE49-F238E27FC236}">
                <a16:creationId xmlns:a16="http://schemas.microsoft.com/office/drawing/2014/main" id="{6B7FF6D9-E515-42CE-8BAE-FC6090E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Demo: continuous monitoring</a:t>
            </a:r>
          </a:p>
        </p:txBody>
      </p:sp>
      <p:sp>
        <p:nvSpPr>
          <p:cNvPr id="126" name="Synthetic unequal arrivals • Shared drift • E">
            <a:extLst xmlns:a="http://schemas.openxmlformats.org/drawingml/2006/main">
              <a:ext uri="{FF2B5EF4-FFF2-40B4-BE49-F238E27FC236}">
                <a16:creationId xmlns:a16="http://schemas.microsoft.com/office/drawing/2014/main" id="{A1E9B125-A863-48BD-B233-4ABEEB16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Synthetic unequal arrivals • Shared drift • Explicit sensor lag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58d3f4ad3340ed"/>
          </a:graphicData>
        </a:graphic>
      </p:graphicFrame>
      <p:sp>
        <p:nvSpPr>
          <p:cNvPr id="128" name="The quantum mean is cleaner; neither method r">
            <a:extLst xmlns:a="http://schemas.openxmlformats.org/drawingml/2006/main">
              <a:ext uri="{FF2B5EF4-FFF2-40B4-BE49-F238E27FC236}">
                <a16:creationId xmlns:a16="http://schemas.microsoft.com/office/drawing/2014/main" id="{7F37BC56-97B3-4067-A055-28F25BD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The quantum mean is cleaner; neither method removes lag or identifies a chemical</a:t>
            </a:r>
          </a:p>
        </p:txBody>
      </p:sp>
      <p:sp>
        <p:nvSpPr>
          <p:cNvPr id="129" name="Demo: compare truth, filtered response and ob">
            <a:extLst xmlns:a="http://schemas.openxmlformats.org/drawingml/2006/main">
              <a:ext uri="{FF2B5EF4-FFF2-40B4-BE49-F238E27FC236}">
                <a16:creationId xmlns:a16="http://schemas.microsoft.com/office/drawing/2014/main" id="{29074F68-AEE1-4773-8468-08EFD8D6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Demo: compare truth, filtered response and observations in the figure gallery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FE645C9-E438-4C3A-A33C-DFF83367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9 / 14">
            <a:extLst xmlns:a="http://schemas.openxmlformats.org/drawingml/2006/main">
              <a:ext uri="{FF2B5EF4-FFF2-40B4-BE49-F238E27FC236}">
                <a16:creationId xmlns:a16="http://schemas.microsoft.com/office/drawing/2014/main" id="{A878851C-3D89-45B8-8C28-79B455FF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Measured anchors / design assumptions">
            <a:extLst xmlns:a="http://schemas.openxmlformats.org/drawingml/2006/main">
              <a:ext uri="{FF2B5EF4-FFF2-40B4-BE49-F238E27FC236}">
                <a16:creationId xmlns:a16="http://schemas.microsoft.com/office/drawing/2014/main" id="{41B701EB-BE47-4F0A-A131-12BAFDA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anchors / design assumptions</a:t>
            </a:r>
          </a:p>
        </p:txBody>
      </p:sp>
      <p:sp>
        <p:nvSpPr>
          <p:cNvPr id="126" name="Sources establish a mechanism; the complete w">
            <a:extLst xmlns:a="http://schemas.openxmlformats.org/drawingml/2006/main">
              <a:ext uri="{FF2B5EF4-FFF2-40B4-BE49-F238E27FC236}">
                <a16:creationId xmlns:a16="http://schemas.microsoft.com/office/drawing/2014/main" id="{0FF68C00-AE12-4074-A899-8C3CF31F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Sources establish a mechanism; the complete water device remains unvalidated</a:t>
            </a:r>
          </a:p>
        </p:txBody>
      </p:sp>
      <p:sp>
        <p:nvSpPr>
          <p:cNvPr id="127" name="Measured anchors: NaCl index slope, telecom s">
            <a:extLst xmlns:a="http://schemas.openxmlformats.org/drawingml/2006/main">
              <a:ext uri="{FF2B5EF4-FFF2-40B4-BE49-F238E27FC236}">
                <a16:creationId xmlns:a16="http://schemas.microsoft.com/office/drawing/2014/main" id="{BE92E160-9807-4B13-8851-481599D9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anchors: NaCl index slope, telecom squeezing, fiber attenuation, water dn/dT.</a:t>
            </a:r>
          </a:p>
        </p:txBody>
      </p:sp>
      <p:sp>
        <p:nvSpPr>
          <p:cNvPr id="128" name="Design targets: 10 µm interaction, 10 dB cap,">
            <a:extLst xmlns:a="http://schemas.openxmlformats.org/drawingml/2006/main">
              <a:ext uri="{FF2B5EF4-FFF2-40B4-BE49-F238E27FC236}">
                <a16:creationId xmlns:a16="http://schemas.microsoft.com/office/drawing/2014/main" id="{49A994BB-CD09-409F-95AA-98ACA718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targets: 10 µm interaction, 10 dB cap, 1 MHz mode rate, 50 µK residual.</a:t>
            </a:r>
          </a:p>
        </p:txBody>
      </p:sp>
      <p:sp>
        <p:nvSpPr>
          <p:cNvPr id="129" name="Supplied sensing experiment: RF air measureme">
            <a:extLst xmlns:a="http://schemas.openxmlformats.org/drawingml/2006/main">
              <a:ext uri="{FF2B5EF4-FFF2-40B4-BE49-F238E27FC236}">
                <a16:creationId xmlns:a16="http://schemas.microsoft.com/office/drawing/2014/main" id="{17685F8D-98CE-4795-A15E-B40DDC8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Supplied sensing experiment: RF air measurement, not slow water calibration.</a:t>
            </a:r>
          </a:p>
        </p:txBody>
      </p:sp>
      <p:sp>
        <p:nvSpPr>
          <p:cNvPr id="130" name="Water QML paper: baseline discipline; no QML ">
            <a:extLst xmlns:a="http://schemas.openxmlformats.org/drawingml/2006/main">
              <a:ext uri="{FF2B5EF4-FFF2-40B4-BE49-F238E27FC236}">
                <a16:creationId xmlns:a16="http://schemas.microsoft.com/office/drawing/2014/main" id="{A36ADBBB-31C3-4296-B0E2-70FC5C14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Water QML paper: baseline discipline; no QML advantage claimed here.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9EAA21A-7B1C-45A4-8223-9709002B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0 / 14">
            <a:extLst xmlns:a="http://schemas.openxmlformats.org/drawingml/2006/main">
              <a:ext uri="{FF2B5EF4-FFF2-40B4-BE49-F238E27FC236}">
                <a16:creationId xmlns:a16="http://schemas.microsoft.com/office/drawing/2014/main" id="{10EFEEF9-BC9A-4B98-BCD0-00A7600F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Business sustainability and scalability">
            <a:extLst xmlns:a="http://schemas.openxmlformats.org/drawingml/2006/main">
              <a:ext uri="{FF2B5EF4-FFF2-40B4-BE49-F238E27FC236}">
                <a16:creationId xmlns:a16="http://schemas.microsoft.com/office/drawing/2014/main" id="{265274AD-7F6C-4377-971A-79CDC738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sustainability and scalability</a:t>
            </a:r>
          </a:p>
        </p:txBody>
      </p:sp>
      <p:sp>
        <p:nvSpPr>
          <p:cNvPr id="126" name="Start with a controlled plant laboratory">
            <a:extLst xmlns:a="http://schemas.openxmlformats.org/drawingml/2006/main">
              <a:ext uri="{FF2B5EF4-FFF2-40B4-BE49-F238E27FC236}">
                <a16:creationId xmlns:a16="http://schemas.microsoft.com/office/drawing/2014/main" id="{1E3F051E-A276-4B9A-A0E1-08E5D9A1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Start with a controlled plant laboratory</a:t>
            </a:r>
          </a:p>
        </p:txBody>
      </p:sp>
      <p:sp>
        <p:nvSpPr>
          <p:cNvPr id="127" name="Alternative: conventional conductivity or a s">
            <a:extLst xmlns:a="http://schemas.openxmlformats.org/drawingml/2006/main">
              <a:ext uri="{FF2B5EF4-FFF2-40B4-BE49-F238E27FC236}">
                <a16:creationId xmlns:a16="http://schemas.microsoft.com/office/drawing/2014/main" id="{29FD7CD9-C19B-4916-B5B7-7C15FA77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Alternative: conventional conductivity or a stronger coherent optical probe.</a:t>
            </a:r>
          </a:p>
        </p:txBody>
      </p:sp>
      <p:sp>
        <p:nvSpPr>
          <p:cNvPr id="128" name="Possible path: a paid research pilot, then a ">
            <a:extLst xmlns:a="http://schemas.openxmlformats.org/drawingml/2006/main">
              <a:ext uri="{FF2B5EF4-FFF2-40B4-BE49-F238E27FC236}">
                <a16:creationId xmlns:a16="http://schemas.microsoft.com/office/drawing/2014/main" id="{825A42C1-DA07-490E-80D2-0754902A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Possible path: a paid research pilot, then a calibrated monitoring module.</a:t>
            </a:r>
          </a:p>
        </p:txBody>
      </p:sp>
      <p:sp>
        <p:nvSpPr>
          <p:cNvPr id="129" name="Scale only after surveyed routes, measured dr">
            <a:extLst xmlns:a="http://schemas.openxmlformats.org/drawingml/2006/main">
              <a:ext uri="{FF2B5EF4-FFF2-40B4-BE49-F238E27FC236}">
                <a16:creationId xmlns:a16="http://schemas.microsoft.com/office/drawing/2014/main" id="{C2EB2196-C19C-448D-8E7B-AC475F65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only after surveyed routes, measured drift and useful detection justify cost.</a:t>
            </a:r>
          </a:p>
        </p:txBody>
      </p:sp>
      <p:sp>
        <p:nvSpPr>
          <p:cNvPr id="130" name="No verified customer, pricing, partner commit">
            <a:extLst xmlns:a="http://schemas.openxmlformats.org/drawingml/2006/main">
              <a:ext uri="{FF2B5EF4-FFF2-40B4-BE49-F238E27FC236}">
                <a16:creationId xmlns:a16="http://schemas.microsoft.com/office/drawing/2014/main" id="{A722D786-E9EF-44CF-B8CB-1190CDF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No verified customer, pricing, partner commitment or net energy saving yet.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BF06ABA-C3AF-4D8B-B1AD-CBF4D95F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1 / 14">
            <a:extLst xmlns:a="http://schemas.openxmlformats.org/drawingml/2006/main">
              <a:ext uri="{FF2B5EF4-FFF2-40B4-BE49-F238E27FC236}">
                <a16:creationId xmlns:a16="http://schemas.microsoft.com/office/drawing/2014/main" id="{52F66F35-5AE2-496A-94A7-F94C91E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Next steps and decision gates">
            <a:extLst xmlns:a="http://schemas.openxmlformats.org/drawingml/2006/main">
              <a:ext uri="{FF2B5EF4-FFF2-40B4-BE49-F238E27FC236}">
                <a16:creationId xmlns:a16="http://schemas.microsoft.com/office/drawing/2014/main" id="{A38601DB-6E7A-44C7-A2B3-6B298FAA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steps and decision gates</a:t>
            </a:r>
          </a:p>
        </p:txBody>
      </p:sp>
      <p:sp>
        <p:nvSpPr>
          <p:cNvPr id="126" name="A measured advantage must survive practical a">
            <a:extLst xmlns:a="http://schemas.openxmlformats.org/drawingml/2006/main">
              <a:ext uri="{FF2B5EF4-FFF2-40B4-BE49-F238E27FC236}">
                <a16:creationId xmlns:a16="http://schemas.microsoft.com/office/drawing/2014/main" id="{65F58451-1495-435B-B684-0410EC1F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 measured advantage must survive practical alternatives</a:t>
            </a:r>
          </a:p>
        </p:txBody>
      </p:sp>
      <p:sp>
        <p:nvSpPr>
          <p:cNvPr id="127" name="1  Calibrate one water cell: slope, bias, tem">
            <a:extLst xmlns:a="http://schemas.openxmlformats.org/drawingml/2006/main">
              <a:ext uri="{FF2B5EF4-FFF2-40B4-BE49-F238E27FC236}">
                <a16:creationId xmlns:a16="http://schemas.microsoft.com/office/drawing/2014/main" id="{D4C2383F-ED6E-4148-9F5E-B7F77533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Calibrate one water cell: slope, bias, temperature response and transmission.</a:t>
            </a:r>
          </a:p>
        </p:txBody>
      </p:sp>
      <p:sp>
        <p:nvSpPr>
          <p:cNvPr id="128" name="2  Test four taps with blind salt changes and">
            <a:extLst xmlns:a="http://schemas.openxmlformats.org/drawingml/2006/main">
              <a:ext uri="{FF2B5EF4-FFF2-40B4-BE49-F238E27FC236}">
                <a16:creationId xmlns:a16="http://schemas.microsoft.com/office/drawing/2014/main" id="{82F9848C-A2E5-4573-B8FC-C6E80CD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Test four taps with blind salt changes and matched coherent/squeezed budgets.</a:t>
            </a:r>
          </a:p>
        </p:txBody>
      </p:sp>
      <p:sp>
        <p:nvSpPr>
          <p:cNvPr id="129" name="3  Measure full energy, false alarms and dete">
            <a:extLst xmlns:a="http://schemas.openxmlformats.org/drawingml/2006/main">
              <a:ext uri="{FF2B5EF4-FFF2-40B4-BE49-F238E27FC236}">
                <a16:creationId xmlns:a16="http://schemas.microsoft.com/office/drawing/2014/main" id="{F38C17EF-AA27-4AC2-9AAC-8E5217E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Measure full energy, false alarms and detection delay before a 16-tap pilot.</a:t>
            </a:r>
          </a:p>
        </p:txBody>
      </p:sp>
      <p:sp>
        <p:nvSpPr>
          <p:cNvPr id="130" name="Proceed only if useful detection improves und">
            <a:extLst xmlns:a="http://schemas.openxmlformats.org/drawingml/2006/main">
              <a:ext uri="{FF2B5EF4-FFF2-40B4-BE49-F238E27FC236}">
                <a16:creationId xmlns:a16="http://schemas.microsoft.com/office/drawing/2014/main" id="{B0D7127D-474A-42E3-B62C-F892077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Proceed only if useful detection improves under an operator-relevant constraint.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641395C3-91AF-4E92-8F70-6C1A5C4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2 / 14">
            <a:extLst xmlns:a="http://schemas.openxmlformats.org/drawingml/2006/main">
              <a:ext uri="{FF2B5EF4-FFF2-40B4-BE49-F238E27FC236}">
                <a16:creationId xmlns:a16="http://schemas.microsoft.com/office/drawing/2014/main" id="{D408E954-B11B-45D3-819E-9E59655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hree measurable claims">
            <a:extLst xmlns:a="http://schemas.openxmlformats.org/drawingml/2006/main">
              <a:ext uri="{FF2B5EF4-FFF2-40B4-BE49-F238E27FC236}">
                <a16:creationId xmlns:a16="http://schemas.microsoft.com/office/drawing/2014/main" id="{D97B2ECD-0CEA-4AF4-A1D3-5F5F1976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measurable claims</a:t>
            </a:r>
          </a:p>
        </p:txBody>
      </p:sp>
      <p:sp>
        <p:nvSpPr>
          <p:cNvPr id="126" name="Simulation evidence today • Operational outco">
            <a:extLst xmlns:a="http://schemas.openxmlformats.org/drawingml/2006/main">
              <a:ext uri="{FF2B5EF4-FFF2-40B4-BE49-F238E27FC236}">
                <a16:creationId xmlns:a16="http://schemas.microsoft.com/office/drawing/2014/main" id="{F8CB10B1-B49A-4589-A355-EFCD7979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Simulation evidence today • Operational outcomes to measure next</a:t>
            </a:r>
          </a:p>
        </p:txBody>
      </p:sp>
      <p:sp>
        <p:nvSpPr>
          <p:cNvPr id="127" name="Estimation: 27.92% lower total RMSE at matche">
            <a:extLst xmlns:a="http://schemas.openxmlformats.org/drawingml/2006/main">
              <a:ext uri="{FF2B5EF4-FFF2-40B4-BE49-F238E27FC236}">
                <a16:creationId xmlns:a16="http://schemas.microsoft.com/office/drawing/2014/main" id="{857320A2-4F11-41E6-9649-189FEF28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Estimation: 27.92% lower total RMSE at matched launched probe photons.</a:t>
            </a:r>
          </a:p>
        </p:txBody>
      </p:sp>
      <p:sp>
        <p:nvSpPr>
          <p:cNvPr id="128" name="Water monitoring: 24.3% → 47.3% detection of ">
            <a:extLst xmlns:a="http://schemas.openxmlformats.org/drawingml/2006/main">
              <a:ext uri="{FF2B5EF4-FFF2-40B4-BE49-F238E27FC236}">
                <a16:creationId xmlns:a16="http://schemas.microsoft.com/office/drawing/2014/main" id="{E083AEBF-5E22-410C-B504-77CF6F9F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monitoring: 24.3% → 47.3% detection of the specified salt-proxy step.</a:t>
            </a:r>
          </a:p>
        </p:txBody>
      </p:sp>
      <p:sp>
        <p:nvSpPr>
          <p:cNvPr id="129" name="Resource use: 160 nJ probe energy per pilot w">
            <a:extLst xmlns:a="http://schemas.openxmlformats.org/drawingml/2006/main">
              <a:ext uri="{FF2B5EF4-FFF2-40B4-BE49-F238E27FC236}">
                <a16:creationId xmlns:a16="http://schemas.microsoft.com/office/drawing/2014/main" id="{FDE161FB-D467-421C-9E82-DA05A44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 use: 160 nJ probe energy per pilot window for both strategies.</a:t>
            </a:r>
          </a:p>
        </p:txBody>
      </p:sp>
      <p:sp>
        <p:nvSpPr>
          <p:cNvPr id="130" name="Liters saved, wall-plug energy and field adva">
            <a:extLst xmlns:a="http://schemas.openxmlformats.org/drawingml/2006/main">
              <a:ext uri="{FF2B5EF4-FFF2-40B4-BE49-F238E27FC236}">
                <a16:creationId xmlns:a16="http://schemas.microsoft.com/office/drawing/2014/main" id="{CCABF819-5C13-47D2-B506-28FFA1B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Liters saved, wall-plug energy and field advantage remain unmeasured.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3744414-7FCE-407E-AEA4-82AFBA21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3 / 14">
            <a:extLst xmlns:a="http://schemas.openxmlformats.org/drawingml/2006/main">
              <a:ext uri="{FF2B5EF4-FFF2-40B4-BE49-F238E27FC236}">
                <a16:creationId xmlns:a16="http://schemas.microsoft.com/office/drawing/2014/main" id="{8A0BE23E-722B-435A-9A67-E5AA4B0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7761DB34-E749-4018-AAFA-A222B9798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87575" y="596425"/>
            <a:ext cx="8668200" cy="154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Evidence and judge questions">
            <a:extLst xmlns:a="http://schemas.openxmlformats.org/drawingml/2006/main">
              <a:ext uri="{FF2B5EF4-FFF2-40B4-BE49-F238E27FC236}">
                <a16:creationId xmlns:a16="http://schemas.microsoft.com/office/drawing/2014/main" id="{8BC2F82A-51EC-4901-9216-892BCAB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judge questions</a:t>
            </a:r>
          </a:p>
        </p:txBody>
      </p:sp>
      <p:sp>
        <p:nvSpPr>
          <p:cNvPr id="126" name="Appendix • Full derivation, ten experiments a">
            <a:extLst xmlns:a="http://schemas.openxmlformats.org/drawingml/2006/main">
              <a:ext uri="{FF2B5EF4-FFF2-40B4-BE49-F238E27FC236}">
                <a16:creationId xmlns:a16="http://schemas.microsoft.com/office/drawing/2014/main" id="{C6500F0C-14C4-4464-A6E1-DC1D456F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Appendix • Full derivation, ten experiments and source register in the report</a:t>
            </a:r>
          </a:p>
        </p:txBody>
      </p:sp>
      <p:sp>
        <p:nvSpPr>
          <p:cNvPr id="127" name="Why quantum? Correlated readouts improve the ">
            <a:extLst xmlns:a="http://schemas.openxmlformats.org/drawingml/2006/main">
              <a:ext uri="{FF2B5EF4-FFF2-40B4-BE49-F238E27FC236}">
                <a16:creationId xmlns:a16="http://schemas.microsoft.com/office/drawing/2014/main" id="{75E45CAA-DD0C-4D84-A176-BF8F22EC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quantum? Correlated readouts improve the specified mean under a dose budget.</a:t>
            </a:r>
          </a:p>
        </p:txBody>
      </p:sp>
      <p:sp>
        <p:nvSpPr>
          <p:cNvPr id="128" name="Why not more classical light? It is a serious">
            <a:extLst xmlns:a="http://schemas.openxmlformats.org/drawingml/2006/main">
              <a:ext uri="{FF2B5EF4-FFF2-40B4-BE49-F238E27FC236}">
                <a16:creationId xmlns:a16="http://schemas.microsoft.com/office/drawing/2014/main" id="{7EC23AEB-53CF-43B8-9D4E-AB6051DC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not more classical light? It is a serious alternative, included in the sweep.</a:t>
            </a:r>
          </a:p>
        </p:txBody>
      </p:sp>
      <p:sp>
        <p:nvSpPr>
          <p:cNvPr id="129" name="What is proven? Internal model checks; no har">
            <a:extLst xmlns:a="http://schemas.openxmlformats.org/drawingml/2006/main">
              <a:ext uri="{FF2B5EF4-FFF2-40B4-BE49-F238E27FC236}">
                <a16:creationId xmlns:a16="http://schemas.microsoft.com/office/drawing/2014/main" id="{6C81522D-B4C2-4A7F-AC59-8A1397FF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proven? Internal model checks; no hardware or field claim.</a:t>
            </a:r>
          </a:p>
        </p:txBody>
      </p:sp>
      <p:sp>
        <p:nvSpPr>
          <p:cNvPr id="130" name="What is missing? Chemical specificity, low-fr">
            <a:extLst xmlns:a="http://schemas.openxmlformats.org/drawingml/2006/main">
              <a:ext uri="{FF2B5EF4-FFF2-40B4-BE49-F238E27FC236}">
                <a16:creationId xmlns:a16="http://schemas.microsoft.com/office/drawing/2014/main" id="{3E9DE406-2FC6-47EF-A729-80CD2B40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What is missing? Chemical specificity, low-frequency stability, total cost and energy.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CE1874B-81BE-4745-B54E-F3401F5E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4 / 14">
            <a:extLst xmlns:a="http://schemas.openxmlformats.org/drawingml/2006/main">
              <a:ext uri="{FF2B5EF4-FFF2-40B4-BE49-F238E27FC236}">
                <a16:creationId xmlns:a16="http://schemas.microsoft.com/office/drawing/2014/main" id="{2AC1DE33-BC08-4AA5-ABA6-8382485F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744451589"/>
      </p:ext>
    </p:extLst>
  </p:cSld>
</p:sld>
</file>

<file path=ppt/theme/theme1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2026-10-06T16:36:48.5320000Z</dcterms:created>
  <dcterms:modified xsi:type="dcterms:W3CDTF">2026-10-06T16:36:48.5320000Z</dcterms:modified>
</coreProperties>
</file>
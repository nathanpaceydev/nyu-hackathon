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0d6f242130140f0" /><Relationship Type="http://schemas.openxmlformats.org/officeDocument/2006/relationships/extended-properties" Target="/docProps/app.xml" Id="Rbbd58be5a89f4c2b" /><Relationship Type="http://schemas.openxmlformats.org/officeDocument/2006/relationships/officeDocument" Target="/ppt/presentation.xml" Id="R8c2f6edcc7324edf" /></Relationships>
</file>

<file path=ppt/presentation.xml><?xml version="1.0" encoding="utf-8"?>
<p:presentation xmlns:p="http://schemas.openxmlformats.org/presentationml/2006/main">
  <p:sldMasterIdLst>
    <p:sldMasterId xmlns:r="http://schemas.openxmlformats.org/officeDocument/2006/relationships" id="2147483648" r:id="R2a2a82be0fea4829"/>
  </p:sldMasterIdLst>
  <p:notesMasterIdLst>
    <p:notesMasterId xmlns:r="http://schemas.openxmlformats.org/officeDocument/2006/relationships" r:id="Rde0d3671f9d0476b"/>
  </p:notesMasterIdLst>
  <p:sldIdLst>
    <p:sldId xmlns:r="http://schemas.openxmlformats.org/officeDocument/2006/relationships" id="256" r:id="R6960a8ea9f954647"/>
    <p:sldId xmlns:r="http://schemas.openxmlformats.org/officeDocument/2006/relationships" id="257" r:id="R4beb80e6d8874b7c"/>
    <p:sldId xmlns:r="http://schemas.openxmlformats.org/officeDocument/2006/relationships" id="258" r:id="Rf4f5a1ee8a3842db"/>
    <p:sldId xmlns:r="http://schemas.openxmlformats.org/officeDocument/2006/relationships" id="259" r:id="Rf5b361c23e6140d3"/>
    <p:sldId xmlns:r="http://schemas.openxmlformats.org/officeDocument/2006/relationships" id="260" r:id="R63d6774bab05456c"/>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27f33aefed47f7" /><Relationship Type="http://schemas.openxmlformats.org/officeDocument/2006/relationships/slideMaster" Target="/ppt/slideMasters/slideMaster1.xml" Id="R2a2a82be0fea4829" /><Relationship Type="http://schemas.openxmlformats.org/officeDocument/2006/relationships/notesMaster" Target="/ppt/notesMasters/notesMaster1.xml" Id="Rde0d3671f9d0476b" /><Relationship Type="http://schemas.openxmlformats.org/officeDocument/2006/relationships/presProps" Target="/ppt/presProps.xml" Id="R4a02b94ef3294407" /><Relationship Type="http://schemas.openxmlformats.org/officeDocument/2006/relationships/tableStyles" Target="/ppt/tableStyles.xml" Id="Re9d82b0b0d604e01" /><Relationship Type="http://schemas.openxmlformats.org/officeDocument/2006/relationships/slide" Target="/ppt/slides/slide1.xml" Id="R6960a8ea9f954647" /><Relationship Type="http://schemas.openxmlformats.org/officeDocument/2006/relationships/slide" Target="/ppt/slides/slide2.xml" Id="R4beb80e6d8874b7c" /><Relationship Type="http://schemas.openxmlformats.org/officeDocument/2006/relationships/slide" Target="/ppt/slides/slide3.xml" Id="Rf4f5a1ee8a3842db" /><Relationship Type="http://schemas.openxmlformats.org/officeDocument/2006/relationships/slide" Target="/ppt/slides/slide4.xml" Id="Rf5b361c23e6140d3" /><Relationship Type="http://schemas.openxmlformats.org/officeDocument/2006/relationships/slide" Target="/ppt/slides/slide5.xml" Id="R63d6774bab0545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a4e4e19cbf42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a78c96d46c45fc" /><Relationship Type="http://schemas.openxmlformats.org/officeDocument/2006/relationships/notesMaster" Target="/ppt/notesMasters/notesMaster1.xml" Id="Rc33eeed4b7b741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09f7c1d06a42f6" /><Relationship Type="http://schemas.openxmlformats.org/officeDocument/2006/relationships/notesMaster" Target="/ppt/notesMasters/notesMaster1.xml" Id="R222b3b5ea7654a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18edb8badb4b7d" /><Relationship Type="http://schemas.openxmlformats.org/officeDocument/2006/relationships/notesMaster" Target="/ppt/notesMasters/notesMaster1.xml" Id="R803efe9016f74d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48cff890c04e6d" /><Relationship Type="http://schemas.openxmlformats.org/officeDocument/2006/relationships/notesMaster" Target="/ppt/notesMasters/notesMaster1.xml" Id="Rcd28c5d367fd4d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a05cfcf1de4a98" /><Relationship Type="http://schemas.openxmlformats.org/officeDocument/2006/relationships/notesMaster" Target="/ppt/notesMasters/notesMaster1.xml" Id="R424041cf328844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 SDG Report 2025, Goal 6: https://unstats.un.org/sdgs/report/2025/Goal-06/ reports approximately two million measurements used for reporting, 60,000 from poorest regions. These are monitoring data, not all worldwide measurements. WHO 2023 fact sheet, 2022 data: https://www.who.int/news-room/fact-sheets/detail/drinking-water . EPA online monitoring: https://www.epa.gov/waterresilience/online-water-quality-monitoring-resources . These sources establish importance and monitoring use cases, not a quantum bottleneck or salt-based pathogen detection. Operator need for this dose and sensitivity is an assumption.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Technical rigor: 30%. Classical matrix operations and Gaussian threshold tests; no quantum computing speedup, QAOA, VQE or QML execution. Covariance is propagated through loss and phase jitter. Objective is minimum error for an unbiased arithmetic-mean estimate under the stated resource constraints; no changing site weights to discard noisy nodes. Theory https://arxiv.org/abs/1711.10459 and https://doi.org/10.1103/PhysRevResearch.2.023030 . Classical estimator is computationally tractable. QC-specific eligibility must be confirmed with organizers. Hack stack: Python, NumPy, SciPy, Matplotlib. No quantum hardware has been built.</a:t>
            </a:r>
            <a:endParaRPr/>
          </a:p>
          <a:p xmlns:a="http://schemas.openxmlformats.org/drawingml/2006/main">
            <a:pPr marL="0" lvl="0" indent="0" algn="l">
              <a:spcBef>
                <a:spcPts val="0"/>
              </a:spcBef>
              <a:spcAft>
                <a:spcPts val="0"/>
              </a:spcAft>
              <a:buNone/>
            </a:pPr>
            <a:r>
              <a:t>NaCl calibration: Saunders https://doi.org/10.1364/AO.55.000947 . Around500mg/kg, dn/dc=1.6207394e-7 RIU/(mg/kg). Effective length10µm is assumed, giving6.5699393e-6rad/(mg/kg). Local concentrations may differ. NaCl-equivalent mg/kg is a nonspecific proxy: no arsenic/nitrate selectivity or mg/L conversion. Classical simulator uses Python, NumPy and SciPy. Hardware remains proposed. Product concept: calibrated optical sampling module with operator software and confirmatory chemical analysis. Quantum-computing emphasis of rubric remains an eligibility question.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Implementation evidence: src/model.py, src/run.py, src/validate.py, src/practical_comparisons.py and requirements.txt. Local Python 3.12.14 CPU execution. NumPy 2.3.5 arrays, covariance, seeded Gaussian draws; SciPy 1.18.1 constants and normal CDF, root solve in comparison helper; pandas 2.2.3 CSV processing; Matplotlib 3.11.2 PNG/SVG figures. Python unittest runs 13 internal model checks. Inputs: config/default.json and data/site_geometry.csv. Chemical concentrations in the trace are synthetic; coordinates only from supplied USGS-labelled file. Compute phase slope, loss, covariance, w^T Sigma w, add thermal/calibration variance, then threshold tests. Most RMSE curves are analytic. Monte Carlo: 100,000 null and alternative draws per strategy. A separate synthetic OU time trace has response lag. Seed 2601006. Outputs: results/summary.json, CSV, feasibility.npz, ten figures. Run bash src/reproduce.sh in project root with prepared .venv. No quantum SDK, circuit execution, ML training or quantum hardware. JavaScript/Node artifact-tool creates PPTX; Python creates offline HTML; Playwright prints PDF. Authoring tools are separate from the scientific simulator. Details: docs/SIMULATION.md.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Quantum justification: 20%. This is a prediction for a proposed controlled instrument, not a measured water sensor. Optical RMSE .079619 vs .047583; total precision gain 1.387×. The ambitious common temperature residual is an engineering assumption. Probe photon accounting includes squeezed photons deducted from carrier power, but excludes pump and local oscillator energy.</a:t>
            </a:r>
            <a:endParaRPr/>
          </a:p>
          <a:p xmlns:a="http://schemas.openxmlformats.org/drawingml/2006/main">
            <a:pPr marL="0" lvl="0" indent="0" algn="l">
              <a:spcBef>
                <a:spcPts val="0"/>
              </a:spcBef>
              <a:spcAft>
                <a:spcPts val="0"/>
              </a:spcAft>
              <a:buNone/>
            </a:pPr>
            <a:r>
              <a:t>results/summary.json pilot16. No measured-field accuracy claim. Common residual 50 microkelvin is an ambitious compensated bench target.</a:t>
            </a:r>
            <a:endParaRPr/>
          </a:p>
          <a:p xmlns:a="http://schemas.openxmlformats.org/drawingml/2006/main">
            <a:pPr marL="0" lvl="0" indent="0" algn="l">
              <a:spcBef>
                <a:spcPts val="0"/>
              </a:spcBef>
              <a:spcAft>
                <a:spcPts val="0"/>
              </a:spcAft>
              <a:buNone/>
            </a:pPr>
            <a:r>
              <a:t>Results/summary.json gives27.92% RMSE reduction versus coherent and16.58% versus independent squeezing. At64regional sites compare optimized coherent .0728867 to distributed .0655362mg/kg.10mK residual gives approximately9.137mg/kg for either strategy. More classical power also shrinks total gain. These are conditional predictions, not measured hardware results or experimental proof of the literature. Source plot uses exact model results rounded for spreadsheet portability. 16 taps is a design assumption: four binary splitter stages and Ns=1.6 below the 2.025 photons/mode cap. Not optimal or deployment-derived. Guo et al. demonstrated four nodes: https://arxiv.org/abs/1905.09408 . Start with one/four measured taps. 100 m links, 10 nW/tap and 50 microkelvin residual are assumptions. Our contribution integrates existing CV theory with a NaCl proxy, losses, technical noise and decision analysis. No research-priority claim. docs/DESIGN_DECISIONS.md.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Required closing three claims from judging guidance. All pilot claims use16nodes,10nW/node,1s,50µK common residual. Detection uses.15mg/kg increase and1% false alarm per decision. Optical energy160nJ is equal resources, not measured sustainability improvement. Algorithm is estimator accuracy, not quantum computational runtime. Next KPI: total joules per validated useful detection at matched coverage, false-alarm rate and response time. Results do not prove/disprove literature: conditional model consistency only.</a:t>
            </a:r>
            <a:endParaRPr/>
          </a:p>
          <a:p xmlns:a="http://schemas.openxmlformats.org/drawingml/2006/main">
            <a:pPr marL="0" lvl="0" indent="0" algn="l">
              <a:spcBef>
                <a:spcPts val="0"/>
              </a:spcBef>
              <a:spcAft>
                <a:spcPts val="0"/>
              </a:spcAft>
              <a:buNone/>
            </a:pPr>
            <a:r>
              <a:t>Detection of.15mg/kg mean increase,16nodes,1s,50µK residual.1% per-window false alarm at1Hz gives36expected flagged windows/hour; not an operational alarm policy. Need a separately validated sequential rule. First audience controlled plant lab; possible model research pilot then monitoring module, no confirmed partner or revenue. Compare conventional conductivity and higher-power coherent optics. Expansion only if useful detection beats these alternatives under an operator-relevant constraint and measured total cost/energy. Seek water operator and optical laboratory for a scoped pilot. Figures do not prove/disprove experimental literature; they show conditional consistency and failure regimes. Sources and technical details in docs/PROJECT_REPORT.md and results/summary.json. The proposed environmental impact remains unvalidated. Derived comparison: src/practical_comparisons.py and results/practical_comparisons.json.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d8a66f0d6348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444ec723094d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1199af150641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99229e8f264d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ca818448f146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1a8cd04c444c7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26cd6890dda461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04f3de4ac974aa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7b41e4cff494ae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c7de1d663d5461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25f7693d5094b00" /></Relationships>
</file>

<file path=ppt/slideLayouts/slideLayout1.xml><?xml version="1.0" encoding="utf-8"?>
<p:sldLayout xmlns:p="http://schemas.openxmlformats.org/presentationml/2006/main" matchingName="Diapositive de titre" type="title">
  <p:cSld name="TITLE">
    <p:spTree>
      <p:nvGrpSpPr>
        <p:cNvPr id="1" name=""/>
        <p:cNvGrpSpPr/>
        <p:nvPr/>
      </p:nvGrpSpPr>
      <p:grpSpPr>
        <a:xfrm xmlns:a="http://schemas.openxmlformats.org/drawingml/2006/main"/>
      </p:grpSpPr>
      <p:sp>
        <p:nvSpPr>
          <p:cNvPr id="14" name="Google Shape;14;p2">
            <a:extLst xmlns:a="http://schemas.openxmlformats.org/drawingml/2006/main">
              <a:ext uri="{FF2B5EF4-FFF2-40B4-BE49-F238E27FC236}">
                <a16:creationId xmlns:a16="http://schemas.microsoft.com/office/drawing/2014/main" id="{9CE4425C-1528-4EEF-BC83-5D9F1CF7FCA1}"/>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BB8B1F28-3978-43DF-A5E7-2226F5B1AB22}"/>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640"/>
              </a:spcBef>
              <a:spcAft>
                <a:spcPts val="0"/>
              </a:spcAft>
              <a:buClr>
                <a:srgbClr val="888888"/>
              </a:buClr>
              <a:buSzPts val="1400"/>
              <a:buFont typeface="Calibri"/>
              <a:buNone/>
              <a:defRPr/>
            </a:lvl1pPr>
            <a:lvl2pPr marL="457200" marR="0" indent="0" algn="ctr">
              <a:spcBef>
                <a:spcPts val="560"/>
              </a:spcBef>
              <a:spcAft>
                <a:spcPts val="0"/>
              </a:spcAft>
              <a:buClr>
                <a:srgbClr val="888888"/>
              </a:buClr>
              <a:buSzPts val="1400"/>
              <a:buFont typeface="Calibri"/>
              <a:buNone/>
              <a:defRPr/>
            </a:lvl2pPr>
            <a:lvl3pPr marL="914400" marR="0" indent="0" algn="ctr">
              <a:spcBef>
                <a:spcPts val="480"/>
              </a:spcBef>
              <a:spcAft>
                <a:spcPts val="0"/>
              </a:spcAft>
              <a:buClr>
                <a:srgbClr val="888888"/>
              </a:buClr>
              <a:buSzPts val="1400"/>
              <a:buFont typeface="Calibri"/>
              <a:buNone/>
              <a:defRPr/>
            </a:lvl3pPr>
            <a:lvl4pPr marL="1371600" marR="0" indent="0" algn="ctr">
              <a:spcBef>
                <a:spcPts val="400"/>
              </a:spcBef>
              <a:spcAft>
                <a:spcPts val="0"/>
              </a:spcAft>
              <a:buClr>
                <a:srgbClr val="888888"/>
              </a:buClr>
              <a:buSzPts val="1400"/>
              <a:buFont typeface="Calibri"/>
              <a:buNone/>
              <a:defRPr/>
            </a:lvl4pPr>
            <a:lvl5pPr marL="1828800" marR="0" indent="0" algn="ctr">
              <a:spcBef>
                <a:spcPts val="400"/>
              </a:spcBef>
              <a:spcAft>
                <a:spcPts val="0"/>
              </a:spcAft>
              <a:buClr>
                <a:srgbClr val="888888"/>
              </a:buClr>
              <a:buSzPts val="1400"/>
              <a:buFont typeface="Calibri"/>
              <a:buNone/>
              <a:defRPr/>
            </a:lvl5pPr>
            <a:lvl6pPr marL="2286000" marR="0" indent="0" algn="ctr">
              <a:spcBef>
                <a:spcPts val="400"/>
              </a:spcBef>
              <a:spcAft>
                <a:spcPts val="0"/>
              </a:spcAft>
              <a:buClr>
                <a:srgbClr val="888888"/>
              </a:buClr>
              <a:buSzPts val="1400"/>
              <a:buFont typeface="Calibri"/>
              <a:buNone/>
              <a:defRPr/>
            </a:lvl6pPr>
            <a:lvl7pPr marL="2743200" marR="0" indent="0" algn="ctr">
              <a:spcBef>
                <a:spcPts val="400"/>
              </a:spcBef>
              <a:spcAft>
                <a:spcPts val="0"/>
              </a:spcAft>
              <a:buClr>
                <a:srgbClr val="888888"/>
              </a:buClr>
              <a:buSzPts val="1400"/>
              <a:buFont typeface="Calibri"/>
              <a:buNone/>
              <a:defRPr/>
            </a:lvl7pPr>
            <a:lvl8pPr marL="3200400" marR="0" indent="0" algn="ctr">
              <a:spcBef>
                <a:spcPts val="400"/>
              </a:spcBef>
              <a:spcAft>
                <a:spcPts val="0"/>
              </a:spcAft>
              <a:buClr>
                <a:srgbClr val="888888"/>
              </a:buClr>
              <a:buSzPts val="1400"/>
              <a:buFont typeface="Calibri"/>
              <a:buNone/>
              <a:defRPr/>
            </a:lvl8pPr>
            <a:lvl9pPr marL="3657600" marR="0" indent="0" algn="ctr">
              <a:spcBef>
                <a:spcPts val="400"/>
              </a:spcBef>
              <a:spcAft>
                <a:spcPts val="0"/>
              </a:spcAft>
              <a:buClr>
                <a:srgbClr val="888888"/>
              </a:buClr>
              <a:buSzPts val="1400"/>
              <a:buFont typeface="Calibri"/>
              <a:buNone/>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703361D1-2F7A-4455-B500-21F12C5DF001}"/>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9F210517-062B-4A59-A23C-B4173708392C}"/>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DC5E4E9F-73E2-4971-8336-AEC3E7C1A6A4}"/>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2.xml><?xml version="1.0" encoding="utf-8"?>
<p:sldLayout xmlns:p="http://schemas.openxmlformats.org/presentationml/2006/main" matchingName="Titre et contenu" type="obj">
  <p:cSld name="OBJECT">
    <p:spTree>
      <p:nvGrpSpPr>
        <p:cNvPr id="1" name=""/>
        <p:cNvGrpSpPr/>
        <p:nvPr/>
      </p:nvGrpSpPr>
      <p:grpSpPr>
        <a:xfrm xmlns:a="http://schemas.openxmlformats.org/drawingml/2006/main"/>
      </p:grpSpPr>
      <p:sp>
        <p:nvSpPr>
          <p:cNvPr id="20" name="Google Shape;20;p3">
            <a:extLst xmlns:a="http://schemas.openxmlformats.org/drawingml/2006/main">
              <a:ext uri="{FF2B5EF4-FFF2-40B4-BE49-F238E27FC236}">
                <a16:creationId xmlns:a16="http://schemas.microsoft.com/office/drawing/2014/main" id="{321D5447-017C-4B61-B99C-726A1BB2E786}"/>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1" name="Google Shape;21;p3">
            <a:extLst xmlns:a="http://schemas.openxmlformats.org/drawingml/2006/main">
              <a:ext uri="{FF2B5EF4-FFF2-40B4-BE49-F238E27FC236}">
                <a16:creationId xmlns:a16="http://schemas.microsoft.com/office/drawing/2014/main" id="{AB809F2E-E611-4FBC-A051-8D6ECBAE56F6}"/>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22" name="Google Shape;22;p3">
            <a:extLst xmlns:a="http://schemas.openxmlformats.org/drawingml/2006/main">
              <a:ext uri="{FF2B5EF4-FFF2-40B4-BE49-F238E27FC236}">
                <a16:creationId xmlns:a16="http://schemas.microsoft.com/office/drawing/2014/main" id="{B4A7C4E0-8789-409B-9EE9-F5786EA32E60}"/>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D06590BA-EDE7-4494-AC9D-62D5829E23EA}"/>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3E9B5028-85BC-4FAD-986E-DACFA91E3409}"/>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3.xml><?xml version="1.0" encoding="utf-8"?>
<p:sldLayout xmlns:p="http://schemas.openxmlformats.org/presentationml/2006/main" matchingName="En-tête de section" type="secHead">
  <p:cSld name="SECTION_HEADER">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E4B944E7-8686-41B0-B31A-4E8F169BFC28}"/>
              </a:ext>
            </a:extLst>
          </p:cNvPr>
          <p:cNvSpPr>
            <a:spLocks xmlns:a="http://schemas.openxmlformats.org/drawingml/2006/main" noGrp="1"/>
          </p:cNvSpPr>
          <p:nvPr>
            <p:ph type="title" idx="0"/>
          </p:nvPr>
        </p:nvSpPr>
        <p:spPr>
          <a:xfrm xmlns:a="http://schemas.openxmlformats.org/drawingml/2006/main">
            <a:off x="722313" y="3305175"/>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7" name="Google Shape;27;p4">
            <a:extLst xmlns:a="http://schemas.openxmlformats.org/drawingml/2006/main">
              <a:ext uri="{FF2B5EF4-FFF2-40B4-BE49-F238E27FC236}">
                <a16:creationId xmlns:a16="http://schemas.microsoft.com/office/drawing/2014/main" id="{46063F02-671A-4FC7-AD32-E63B0AD5D878}"/>
              </a:ext>
            </a:extLst>
          </p:cNvPr>
          <p:cNvSpPr>
            <a:spLocks xmlns:a="http://schemas.openxmlformats.org/drawingml/2006/main" noGrp="1"/>
          </p:cNvSpPr>
          <p:nvPr>
            <p:ph type="body" idx="1"/>
          </p:nvPr>
        </p:nvSpPr>
        <p:spPr>
          <a:xfrm xmlns:a="http://schemas.openxmlformats.org/drawingml/2006/main">
            <a:off x="722313" y="2180035"/>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Clr>
                <a:srgbClr val="888888"/>
              </a:buClr>
              <a:buSzPts val="1400"/>
              <a:buFont typeface="Calibri"/>
              <a:buNone/>
              <a:defRPr/>
            </a:lvl1pPr>
            <a:lvl2pPr marL="914400" indent="-228600">
              <a:spcBef>
                <a:spcPts val="560"/>
              </a:spcBef>
              <a:spcAft>
                <a:spcPts val="0"/>
              </a:spcAft>
              <a:buClr>
                <a:srgbClr val="888888"/>
              </a:buClr>
              <a:buSzPts val="1400"/>
              <a:buFont typeface="Calibri"/>
              <a:buNone/>
              <a:defRPr/>
            </a:lvl2pPr>
            <a:lvl3pPr marL="1371600" indent="-228600">
              <a:spcBef>
                <a:spcPts val="480"/>
              </a:spcBef>
              <a:spcAft>
                <a:spcPts val="0"/>
              </a:spcAft>
              <a:buClr>
                <a:srgbClr val="888888"/>
              </a:buClr>
              <a:buSzPts val="1400"/>
              <a:buFont typeface="Calibri"/>
              <a:buNone/>
              <a:defRPr/>
            </a:lvl3pPr>
            <a:lvl4pPr marL="1828800" indent="-228600">
              <a:spcBef>
                <a:spcPts val="400"/>
              </a:spcBef>
              <a:spcAft>
                <a:spcPts val="0"/>
              </a:spcAft>
              <a:buClr>
                <a:srgbClr val="888888"/>
              </a:buClr>
              <a:buSzPts val="1400"/>
              <a:buFont typeface="Calibri"/>
              <a:buNone/>
              <a:defRPr/>
            </a:lvl4pPr>
            <a:lvl5pPr marL="2286000" indent="-228600">
              <a:spcBef>
                <a:spcPts val="400"/>
              </a:spcBef>
              <a:spcAft>
                <a:spcPts val="0"/>
              </a:spcAft>
              <a:buClr>
                <a:srgbClr val="888888"/>
              </a:buClr>
              <a:buSzPts val="1400"/>
              <a:buFont typeface="Calibri"/>
              <a:buNone/>
              <a:defRPr/>
            </a:lvl5pPr>
            <a:lvl6pPr marL="2743200" indent="-228600">
              <a:spcBef>
                <a:spcPts val="400"/>
              </a:spcBef>
              <a:spcAft>
                <a:spcPts val="0"/>
              </a:spcAft>
              <a:buClr>
                <a:srgbClr val="888888"/>
              </a:buClr>
              <a:buSzPts val="1400"/>
              <a:buFont typeface="Calibri"/>
              <a:buNone/>
              <a:defRPr/>
            </a:lvl6pPr>
            <a:lvl7pPr marL="3200400" indent="-228600">
              <a:spcBef>
                <a:spcPts val="400"/>
              </a:spcBef>
              <a:spcAft>
                <a:spcPts val="0"/>
              </a:spcAft>
              <a:buClr>
                <a:srgbClr val="888888"/>
              </a:buClr>
              <a:buSzPts val="1400"/>
              <a:buFont typeface="Calibri"/>
              <a:buNone/>
              <a:defRPr/>
            </a:lvl7pPr>
            <a:lvl8pPr marL="3657600" indent="-228600">
              <a:spcBef>
                <a:spcPts val="400"/>
              </a:spcBef>
              <a:spcAft>
                <a:spcPts val="0"/>
              </a:spcAft>
              <a:buClr>
                <a:srgbClr val="888888"/>
              </a:buClr>
              <a:buSzPts val="1400"/>
              <a:buFont typeface="Calibri"/>
              <a:buNone/>
              <a:defRPr/>
            </a:lvl8pPr>
            <a:lvl9pPr marL="4114800" indent="-228600">
              <a:spcBef>
                <a:spcPts val="400"/>
              </a:spcBef>
              <a:spcAft>
                <a:spcPts val="0"/>
              </a:spcAft>
              <a:buClr>
                <a:srgbClr val="888888"/>
              </a:buClr>
              <a:buSzPts val="1400"/>
              <a:buFont typeface="Calibri"/>
              <a:buNone/>
              <a:defRPr/>
            </a:lvl9pPr>
          </a:lstStyle>
          <a:p xmlns:a="http://schemas.openxmlformats.org/drawingml/2006/main"/>
        </p:txBody>
      </p:sp>
      <p:sp>
        <p:nvSpPr>
          <p:cNvPr id="28" name="Google Shape;28;p4">
            <a:extLst xmlns:a="http://schemas.openxmlformats.org/drawingml/2006/main">
              <a:ext uri="{FF2B5EF4-FFF2-40B4-BE49-F238E27FC236}">
                <a16:creationId xmlns:a16="http://schemas.microsoft.com/office/drawing/2014/main" id="{41F37DF7-4A4E-425C-B04A-131876F35714}"/>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EF714638-1E40-45FD-9B41-85AE8F6350F1}"/>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6AD37467-8FCE-4494-BCBA-A0104DF8770A}"/>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4.xml><?xml version="1.0" encoding="utf-8"?>
<p:sldLayout xmlns:p="http://schemas.openxmlformats.org/presentationml/2006/main" matchingName="Deux contenus" type="twoObj">
  <p:cSld name="TWO_OBJECTS">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D12AD335-79A6-4C1A-A8A2-EB03AE4A268A}"/>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33" name="Google Shape;33;p5">
            <a:extLst xmlns:a="http://schemas.openxmlformats.org/drawingml/2006/main">
              <a:ext uri="{FF2B5EF4-FFF2-40B4-BE49-F238E27FC236}">
                <a16:creationId xmlns:a16="http://schemas.microsoft.com/office/drawing/2014/main" id="{1A6F49F1-2566-460E-91D0-D03413026B54}"/>
              </a:ext>
            </a:extLst>
          </p:cNvPr>
          <p:cNvSpPr>
            <a:spLocks xmlns:a="http://schemas.openxmlformats.org/drawingml/2006/main" noGrp="1"/>
          </p:cNvSpPr>
          <p:nvPr>
            <p:ph type="body" idx="1"/>
          </p:nvPr>
        </p:nvSpPr>
        <p:spPr>
          <a:xfrm xmlns:a="http://schemas.openxmlformats.org/drawingml/2006/main">
            <a:off x="457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4" name="Google Shape;34;p5">
            <a:extLst xmlns:a="http://schemas.openxmlformats.org/drawingml/2006/main">
              <a:ext uri="{FF2B5EF4-FFF2-40B4-BE49-F238E27FC236}">
                <a16:creationId xmlns:a16="http://schemas.microsoft.com/office/drawing/2014/main" id="{1E3CEA5F-C590-450F-9F0A-C3AA6A5DADFA}"/>
              </a:ext>
            </a:extLst>
          </p:cNvPr>
          <p:cNvSpPr>
            <a:spLocks xmlns:a="http://schemas.openxmlformats.org/drawingml/2006/main" noGrp="1"/>
          </p:cNvSpPr>
          <p:nvPr>
            <p:ph type="body" idx="2"/>
          </p:nvPr>
        </p:nvSpPr>
        <p:spPr>
          <a:xfrm xmlns:a="http://schemas.openxmlformats.org/drawingml/2006/main">
            <a:off x="4648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B9D405A9-941F-4871-95F8-9D564717EF9B}"/>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780A78A3-8F85-4CDE-ADC0-23ADDB0F74B0}"/>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7134863C-39BE-40C3-940D-050912894B3A}"/>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5.xml><?xml version="1.0" encoding="utf-8"?>
<p:sldLayout xmlns:p="http://schemas.openxmlformats.org/presentationml/2006/main" matchingName="Comparaison" type="twoTxTwoObj">
  <p:cSld name="TWO_OBJECTS_WITH_TEXT">
    <p:spTree>
      <p:nvGrpSpPr>
        <p:cNvPr id="1" name=""/>
        <p:cNvGrpSpPr/>
        <p:nvPr/>
      </p:nvGrpSpPr>
      <p:grpSpPr>
        <a:xfrm xmlns:a="http://schemas.openxmlformats.org/drawingml/2006/main"/>
      </p:grpSpPr>
      <p:sp>
        <p:nvSpPr>
          <p:cNvPr id="39" name="Google Shape;39;p6">
            <a:extLst xmlns:a="http://schemas.openxmlformats.org/drawingml/2006/main">
              <a:ext uri="{FF2B5EF4-FFF2-40B4-BE49-F238E27FC236}">
                <a16:creationId xmlns:a16="http://schemas.microsoft.com/office/drawing/2014/main" id="{F771B191-ED0D-45B8-80EC-AD8603F53792}"/>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0" name="Google Shape;40;p6">
            <a:extLst xmlns:a="http://schemas.openxmlformats.org/drawingml/2006/main">
              <a:ext uri="{FF2B5EF4-FFF2-40B4-BE49-F238E27FC236}">
                <a16:creationId xmlns:a16="http://schemas.microsoft.com/office/drawing/2014/main" id="{FB1F9FC2-E4C1-4F10-A39A-176C9715C13B}"/>
              </a:ext>
            </a:extLst>
          </p:cNvPr>
          <p:cNvSpPr>
            <a:spLocks xmlns:a="http://schemas.openxmlformats.org/drawingml/2006/main" noGrp="1"/>
          </p:cNvSpPr>
          <p:nvPr>
            <p:ph type="body" idx="1"/>
          </p:nvPr>
        </p:nvSpPr>
        <p:spPr>
          <a:xfrm xmlns:a="http://schemas.openxmlformats.org/drawingml/2006/main">
            <a:off x="457200" y="1151335"/>
            <a:ext cx="4040188"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1" name="Google Shape;41;p6">
            <a:extLst xmlns:a="http://schemas.openxmlformats.org/drawingml/2006/main">
              <a:ext uri="{FF2B5EF4-FFF2-40B4-BE49-F238E27FC236}">
                <a16:creationId xmlns:a16="http://schemas.microsoft.com/office/drawing/2014/main" id="{9C3649EA-0FE8-4DD6-9A56-0635EC48A041}"/>
              </a:ext>
            </a:extLst>
          </p:cNvPr>
          <p:cNvSpPr>
            <a:spLocks xmlns:a="http://schemas.openxmlformats.org/drawingml/2006/main" noGrp="1"/>
          </p:cNvSpPr>
          <p:nvPr>
            <p:ph type="body" idx="2"/>
          </p:nvPr>
        </p:nvSpPr>
        <p:spPr>
          <a:xfrm xmlns:a="http://schemas.openxmlformats.org/drawingml/2006/main">
            <a:off x="457200" y="1631156"/>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E7E4A714-DD5C-4A47-AE4C-F8BDD192C5EC}"/>
              </a:ext>
            </a:extLst>
          </p:cNvPr>
          <p:cNvSpPr>
            <a:spLocks xmlns:a="http://schemas.openxmlformats.org/drawingml/2006/main" noGrp="1"/>
          </p:cNvSpPr>
          <p:nvPr>
            <p:ph type="body" idx="3"/>
          </p:nvPr>
        </p:nvSpPr>
        <p:spPr>
          <a:xfrm xmlns:a="http://schemas.openxmlformats.org/drawingml/2006/main">
            <a:off x="4645025" y="1151335"/>
            <a:ext cx="4041775"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C8758E41-7F28-4AEE-A149-EF8B23491019}"/>
              </a:ext>
            </a:extLst>
          </p:cNvPr>
          <p:cNvSpPr>
            <a:spLocks xmlns:a="http://schemas.openxmlformats.org/drawingml/2006/main" noGrp="1"/>
          </p:cNvSpPr>
          <p:nvPr>
            <p:ph type="body" idx="4"/>
          </p:nvPr>
        </p:nvSpPr>
        <p:spPr>
          <a:xfrm xmlns:a="http://schemas.openxmlformats.org/drawingml/2006/main">
            <a:off x="4645025" y="1631156"/>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88ED6A31-EA37-46B9-81FF-DC6C2F1AEFE0}"/>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E881406D-44E3-4E90-9794-8222A93A03A7}"/>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4B9B5C8A-4E79-4FB1-897E-8A7342669A8A}"/>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6.xml><?xml version="1.0" encoding="utf-8"?>
<p:sldLayout xmlns:p="http://schemas.openxmlformats.org/presentationml/2006/main" matchingName="Titre seul" type="titleOnly">
  <p:cSld name="TITLE_ONLY">
    <p:spTree>
      <p:nvGrpSpPr>
        <p:cNvPr id="1" name=""/>
        <p:cNvGrpSpPr/>
        <p:nvPr/>
      </p:nvGrpSpPr>
      <p:grpSpPr>
        <a:xfrm xmlns:a="http://schemas.openxmlformats.org/drawingml/2006/main"/>
      </p:grpSpPr>
      <p:sp>
        <p:nvSpPr>
          <p:cNvPr id="48" name="Google Shape;48;p7">
            <a:extLst xmlns:a="http://schemas.openxmlformats.org/drawingml/2006/main">
              <a:ext uri="{FF2B5EF4-FFF2-40B4-BE49-F238E27FC236}">
                <a16:creationId xmlns:a16="http://schemas.microsoft.com/office/drawing/2014/main" id="{1489002B-2F7E-46E2-957B-F5D77E744350}"/>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9" name="Google Shape;49;p7">
            <a:extLst xmlns:a="http://schemas.openxmlformats.org/drawingml/2006/main">
              <a:ext uri="{FF2B5EF4-FFF2-40B4-BE49-F238E27FC236}">
                <a16:creationId xmlns:a16="http://schemas.microsoft.com/office/drawing/2014/main" id="{1F0DE991-D74B-465F-8D7B-963E8DDCAEE7}"/>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0" name="Google Shape;50;p7">
            <a:extLst xmlns:a="http://schemas.openxmlformats.org/drawingml/2006/main">
              <a:ext uri="{FF2B5EF4-FFF2-40B4-BE49-F238E27FC236}">
                <a16:creationId xmlns:a16="http://schemas.microsoft.com/office/drawing/2014/main" id="{9CAD604A-CCBE-4DF2-946C-2FE62310E8F3}"/>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473D083F-6F43-4FF9-B94C-91C43909B723}"/>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7.xml><?xml version="1.0" encoding="utf-8"?>
<p:sldLayout xmlns:p="http://schemas.openxmlformats.org/presentationml/2006/main" matchingName="Vide" type="blank">
  <p:cSld name="BLANK">
    <p:spTree>
      <p:nvGrpSpPr>
        <p:cNvPr id="1" name=""/>
        <p:cNvGrpSpPr/>
        <p:nvPr/>
      </p:nvGrpSpPr>
      <p:grpSpPr>
        <a:xfrm xmlns:a="http://schemas.openxmlformats.org/drawingml/2006/main"/>
      </p:grpSpPr>
      <p:sp>
        <p:nvSpPr>
          <p:cNvPr id="53" name="Google Shape;53;p8">
            <a:extLst xmlns:a="http://schemas.openxmlformats.org/drawingml/2006/main">
              <a:ext uri="{FF2B5EF4-FFF2-40B4-BE49-F238E27FC236}">
                <a16:creationId xmlns:a16="http://schemas.microsoft.com/office/drawing/2014/main" id="{549B72C6-87C2-4E55-8DE5-2659D0091980}"/>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4" name="Google Shape;54;p8">
            <a:extLst xmlns:a="http://schemas.openxmlformats.org/drawingml/2006/main">
              <a:ext uri="{FF2B5EF4-FFF2-40B4-BE49-F238E27FC236}">
                <a16:creationId xmlns:a16="http://schemas.microsoft.com/office/drawing/2014/main" id="{542ACF3E-3D0D-49DD-977B-F1A1FEDE446A}"/>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5" name="Google Shape;55;p8">
            <a:extLst xmlns:a="http://schemas.openxmlformats.org/drawingml/2006/main">
              <a:ext uri="{FF2B5EF4-FFF2-40B4-BE49-F238E27FC236}">
                <a16:creationId xmlns:a16="http://schemas.microsoft.com/office/drawing/2014/main" id="{F3BD5E36-9B91-4226-B7F0-B206ED36E160}"/>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8.xml><?xml version="1.0" encoding="utf-8"?>
<p:sldLayout xmlns:p="http://schemas.openxmlformats.org/presentationml/2006/main" matchingName="Contenu avec légende" type="objTx">
  <p:cSld name="OBJECT_WITH_CAPTION_TEXT">
    <p:spTree>
      <p:nvGrpSpPr>
        <p:cNvPr id="1" name=""/>
        <p:cNvGrpSpPr/>
        <p:nvPr/>
      </p:nvGrpSpPr>
      <p:grpSpPr>
        <a:xfrm xmlns:a="http://schemas.openxmlformats.org/drawingml/2006/main"/>
      </p:grpSpPr>
      <p:sp>
        <p:nvSpPr>
          <p:cNvPr id="57" name="Google Shape;57;p9">
            <a:extLst xmlns:a="http://schemas.openxmlformats.org/drawingml/2006/main">
              <a:ext uri="{FF2B5EF4-FFF2-40B4-BE49-F238E27FC236}">
                <a16:creationId xmlns:a16="http://schemas.microsoft.com/office/drawing/2014/main" id="{873298D5-0489-4439-A653-0D580394A5B0}"/>
              </a:ext>
            </a:extLst>
          </p:cNvPr>
          <p:cNvSpPr>
            <a:spLocks xmlns:a="http://schemas.openxmlformats.org/drawingml/2006/main" noGrp="1"/>
          </p:cNvSpPr>
          <p:nvPr>
            <p:ph type="title" idx="0"/>
          </p:nvPr>
        </p:nvSpPr>
        <p:spPr>
          <a:xfrm xmlns:a="http://schemas.openxmlformats.org/drawingml/2006/main">
            <a:off x="457200" y="204788"/>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EC2BBC37-C97C-4C75-B918-4F71B9DB4823}"/>
              </a:ext>
            </a:extLst>
          </p:cNvPr>
          <p:cNvSpPr>
            <a:spLocks xmlns:a="http://schemas.openxmlformats.org/drawingml/2006/main" noGrp="1"/>
          </p:cNvSpPr>
          <p:nvPr>
            <p:ph type="body" idx="1"/>
          </p:nvPr>
        </p:nvSpPr>
        <p:spPr>
          <a:xfrm xmlns:a="http://schemas.openxmlformats.org/drawingml/2006/main">
            <a:off x="3575050" y="204788"/>
            <a:ext cx="5111750"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3A37F048-5ADF-407C-9F62-131745DACF07}"/>
              </a:ext>
            </a:extLst>
          </p:cNvPr>
          <p:cNvSpPr>
            <a:spLocks xmlns:a="http://schemas.openxmlformats.org/drawingml/2006/main" noGrp="1"/>
          </p:cNvSpPr>
          <p:nvPr>
            <p:ph type="body" idx="2"/>
          </p:nvPr>
        </p:nvSpPr>
        <p:spPr>
          <a:xfrm xmlns:a="http://schemas.openxmlformats.org/drawingml/2006/main">
            <a:off x="457200" y="1076325"/>
            <a:ext cx="3008313"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2F3BBA87-6395-4E8C-9A5B-D02B10BB44B1}"/>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3250B26C-C558-4F28-AD08-23D0E3B2C830}"/>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563DF6AF-9157-494C-98ED-8AB3495CB1FB}"/>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9.xml><?xml version="1.0" encoding="utf-8"?>
<p:sldLayout xmlns:p="http://schemas.openxmlformats.org/presentationml/2006/main" matchingName="Image avec légende" type="picTx">
  <p:cSld name="PICTURE_WITH_CAPTION_TEXT">
    <p:spTree>
      <p:nvGrpSpPr>
        <p:cNvPr id="1" name=""/>
        <p:cNvGrpSpPr/>
        <p:nvPr/>
      </p:nvGrpSpPr>
      <p:grpSpPr>
        <a:xfrm xmlns:a="http://schemas.openxmlformats.org/drawingml/2006/main"/>
      </p:grpSpPr>
      <p:sp>
        <p:nvSpPr>
          <p:cNvPr id="64" name="Google Shape;64;p10">
            <a:extLst xmlns:a="http://schemas.openxmlformats.org/drawingml/2006/main">
              <a:ext uri="{FF2B5EF4-FFF2-40B4-BE49-F238E27FC236}">
                <a16:creationId xmlns:a16="http://schemas.microsoft.com/office/drawing/2014/main" id="{E407B58F-129A-4811-AD37-21C132133A5B}"/>
              </a:ext>
            </a:extLst>
          </p:cNvPr>
          <p:cNvSpPr>
            <a:spLocks xmlns:a="http://schemas.openxmlformats.org/drawingml/2006/main" noGrp="1"/>
          </p:cNvSpPr>
          <p:nvPr>
            <p:ph type="title" idx="0"/>
          </p:nvPr>
        </p:nvSpPr>
        <p:spPr>
          <a:xfrm xmlns:a="http://schemas.openxmlformats.org/drawingml/2006/main">
            <a:off x="1792288" y="3600450"/>
            <a:ext cx="548640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2C935340-15AC-45AF-8671-BD45D2A136F4}"/>
              </a:ext>
            </a:extLst>
          </p:cNvPr>
          <p:cNvSpPr>
            <a:spLocks xmlns:a="http://schemas.openxmlformats.org/drawingml/2006/main" noGrp="1"/>
          </p:cNvSpPr>
          <p:nvPr>
            <p:ph type="pic" idx="2"/>
          </p:nvPr>
        </p:nvSpPr>
        <p:spPr>
          <a:xfrm xmlns:a="http://schemas.openxmlformats.org/drawingml/2006/main">
            <a:off x="1792288" y="459581"/>
            <a:ext cx="5486400" cy="3086100"/>
          </a:xfrm>
          <a:prstGeom xmlns:a="http://schemas.openxmlformats.org/drawingml/2006/main" prst="rect">
            <a:avLst/>
          </a:prstGeom>
          <a:noFill xmlns:a="http://schemas.openxmlformats.org/drawingml/2006/main"/>
          <a:ln xmlns:a="http://schemas.openxmlformats.org/drawingml/2006/main">
            <a:noFill/>
          </a:ln>
        </p:spPr>
      </p:sp>
      <p:sp>
        <p:nvSpPr>
          <p:cNvPr id="66" name="Google Shape;66;p10">
            <a:extLst xmlns:a="http://schemas.openxmlformats.org/drawingml/2006/main">
              <a:ext uri="{FF2B5EF4-FFF2-40B4-BE49-F238E27FC236}">
                <a16:creationId xmlns:a16="http://schemas.microsoft.com/office/drawing/2014/main" id="{61E04958-D4EF-4646-BC79-B3F1F0C5A612}"/>
              </a:ext>
            </a:extLst>
          </p:cNvPr>
          <p:cNvSpPr>
            <a:spLocks xmlns:a="http://schemas.openxmlformats.org/drawingml/2006/main" noGrp="1"/>
          </p:cNvSpPr>
          <p:nvPr>
            <p:ph type="body" idx="1"/>
          </p:nvPr>
        </p:nvSpPr>
        <p:spPr>
          <a:xfrm xmlns:a="http://schemas.openxmlformats.org/drawingml/2006/main">
            <a:off x="1792288" y="4025504"/>
            <a:ext cx="54864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AA1B84D0-79EB-4287-AF7F-558C1314FBAE}"/>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8" name="Google Shape;68;p10">
            <a:extLst xmlns:a="http://schemas.openxmlformats.org/drawingml/2006/main">
              <a:ext uri="{FF2B5EF4-FFF2-40B4-BE49-F238E27FC236}">
                <a16:creationId xmlns:a16="http://schemas.microsoft.com/office/drawing/2014/main" id="{99F8439D-6D7B-445D-BF8E-91A7568B631B}"/>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B5D674CE-9246-4AA3-88A7-A9B77D390972}"/>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0.xml><?xml version="1.0" encoding="utf-8"?>
<p:sldLayout xmlns:p="http://schemas.openxmlformats.org/presentationml/2006/main" matchingName="Titre et texte vertical" type="vertTx">
  <p:cSld name="VERTICAL_TEXT">
    <p:spTree>
      <p:nvGrpSpPr>
        <p:cNvPr id="1" name=""/>
        <p:cNvGrpSpPr/>
        <p:nvPr/>
      </p:nvGrpSpPr>
      <p:grpSpPr>
        <a:xfrm xmlns:a="http://schemas.openxmlformats.org/drawingml/2006/main"/>
      </p:grpSpPr>
      <p:sp>
        <p:nvSpPr>
          <p:cNvPr id="71" name="Google Shape;71;p11">
            <a:extLst xmlns:a="http://schemas.openxmlformats.org/drawingml/2006/main">
              <a:ext uri="{FF2B5EF4-FFF2-40B4-BE49-F238E27FC236}">
                <a16:creationId xmlns:a16="http://schemas.microsoft.com/office/drawing/2014/main" id="{01E4E301-A295-454C-A0A1-41954F38EB39}"/>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70139E6B-17A5-4440-853B-79C5BC3CF5CA}"/>
              </a:ext>
            </a:extLst>
          </p:cNvPr>
          <p:cNvSpPr>
            <a:spLocks xmlns:a="http://schemas.openxmlformats.org/drawingml/2006/main" noGrp="1"/>
          </p:cNvSpPr>
          <p:nvPr>
            <p:ph type="body" idx="1"/>
          </p:nvPr>
        </p:nvSpPr>
        <p:spPr>
          <a:xfrm xmlns:a="http://schemas.openxmlformats.org/drawingml/2006/main" rot="5400000">
            <a:off x="2874764" y="-1217414"/>
            <a:ext cx="3394472"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D63C64F7-233C-48CA-8F81-B674909B2417}"/>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99812EA8-6A3F-441B-83DB-7034F1A96256}"/>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1B43101C-1305-4C24-97F1-80F79C11F23A}"/>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1.xml><?xml version="1.0" encoding="utf-8"?>
<p:sldLayout xmlns:p="http://schemas.openxmlformats.org/presentationml/2006/main" matchingName="Titre vertical et texte" type="vertTitleAndTx">
  <p:cSld name="VERTICAL_TITLE_AND_VERTICAL_TEXT">
    <p:spTree>
      <p:nvGrpSpPr>
        <p:cNvPr id="1" name=""/>
        <p:cNvGrpSpPr/>
        <p:nvPr/>
      </p:nvGrpSpPr>
      <p:grpSpPr>
        <a:xfrm xmlns:a="http://schemas.openxmlformats.org/drawingml/2006/main"/>
      </p:grpSpPr>
      <p:sp>
        <p:nvSpPr>
          <p:cNvPr id="77" name="Google Shape;77;p12">
            <a:extLst xmlns:a="http://schemas.openxmlformats.org/drawingml/2006/main">
              <a:ext uri="{FF2B5EF4-FFF2-40B4-BE49-F238E27FC236}">
                <a16:creationId xmlns:a16="http://schemas.microsoft.com/office/drawing/2014/main" id="{7DB74AF6-0A92-48AD-8DD5-F318B799E3C2}"/>
              </a:ext>
            </a:extLst>
          </p:cNvPr>
          <p:cNvSpPr>
            <a:spLocks xmlns:a="http://schemas.openxmlformats.org/drawingml/2006/main" noGrp="1"/>
          </p:cNvSpPr>
          <p:nvPr>
            <p:ph type="title" idx="0"/>
          </p:nvPr>
        </p:nvSpPr>
        <p:spPr>
          <a:xfrm xmlns:a="http://schemas.openxmlformats.org/drawingml/2006/main" rot="5400000">
            <a:off x="5463778" y="1371600"/>
            <a:ext cx="4388644"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504DADE1-2147-4821-9A20-E5F374B9FB1C}"/>
              </a:ext>
            </a:extLst>
          </p:cNvPr>
          <p:cNvSpPr>
            <a:spLocks xmlns:a="http://schemas.openxmlformats.org/drawingml/2006/main" noGrp="1"/>
          </p:cNvSpPr>
          <p:nvPr>
            <p:ph type="body" idx="1"/>
          </p:nvPr>
        </p:nvSpPr>
        <p:spPr>
          <a:xfrm xmlns:a="http://schemas.openxmlformats.org/drawingml/2006/main" rot="5400000">
            <a:off x="1272778" y="-609599"/>
            <a:ext cx="4388644"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4B585E3B-9562-4020-827A-A63DFBB39BBD}"/>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8D34E3B0-C79E-4D61-A2F6-123631146682}"/>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7D15B350-56D3-480C-AAF6-05CD51FE3F02}"/>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46ca6e7567b0478a" /><Relationship Type="http://schemas.openxmlformats.org/officeDocument/2006/relationships/theme" Target="/ppt/slideMasters/theme/theme2.xml" Id="R5456470b8ea549f2" /><Relationship Type="http://schemas.openxmlformats.org/officeDocument/2006/relationships/slideLayout" Target="/ppt/slideLayouts/slideLayout1.xml" Id="Reb3a70f7d1d14eb0" /><Relationship Type="http://schemas.openxmlformats.org/officeDocument/2006/relationships/slideLayout" Target="/ppt/slideLayouts/slideLayout2.xml" Id="Rf991ed01f5cb49df" /><Relationship Type="http://schemas.openxmlformats.org/officeDocument/2006/relationships/slideLayout" Target="/ppt/slideLayouts/slideLayout3.xml" Id="Re4070ceb5db24d84" /><Relationship Type="http://schemas.openxmlformats.org/officeDocument/2006/relationships/slideLayout" Target="/ppt/slideLayouts/slideLayout4.xml" Id="R9c1ac4deca8144cb" /><Relationship Type="http://schemas.openxmlformats.org/officeDocument/2006/relationships/slideLayout" Target="/ppt/slideLayouts/slideLayout5.xml" Id="R394b1be328664bde" /><Relationship Type="http://schemas.openxmlformats.org/officeDocument/2006/relationships/slideLayout" Target="/ppt/slideLayouts/slideLayout6.xml" Id="Rd831f69ed7f140ae" /><Relationship Type="http://schemas.openxmlformats.org/officeDocument/2006/relationships/slideLayout" Target="/ppt/slideLayouts/slideLayout7.xml" Id="Re2be89102b474112" /><Relationship Type="http://schemas.openxmlformats.org/officeDocument/2006/relationships/slideLayout" Target="/ppt/slideLayouts/slideLayout8.xml" Id="R56ebc1ee80f94d65" /><Relationship Type="http://schemas.openxmlformats.org/officeDocument/2006/relationships/slideLayout" Target="/ppt/slideLayouts/slideLayout9.xml" Id="R05c8ec1897334351" /><Relationship Type="http://schemas.openxmlformats.org/officeDocument/2006/relationships/slideLayout" Target="/ppt/slideLayouts/slideLayout10.xml" Id="Rcda54ab057ff43c4" /><Relationship Type="http://schemas.openxmlformats.org/officeDocument/2006/relationships/slideLayout" Target="/ppt/slideLayouts/slideLayout11.xml" Id="R50f5505501504ef0"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33A913DD-6D20-460F-B3DB-A1BC1518B1A9}"/>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0F692E3-272A-4AD5-B662-B9752C0CA35C}"/>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640"/>
              </a:spcBef>
              <a:spcAft>
                <a:spcPts val="0"/>
              </a:spcAft>
              <a:buClr>
                <a:schemeClr val="dk1"/>
              </a:buClr>
              <a:buSzPts val="1400"/>
              <a:buFont typeface="Calibri"/>
              <a:buChar char="•"/>
              <a:defRPr/>
            </a:lvl1pPr>
            <a:lvl2pPr marL="914400" marR="0" indent="-317500" algn="l">
              <a:spcBef>
                <a:spcPts val="560"/>
              </a:spcBef>
              <a:spcAft>
                <a:spcPts val="0"/>
              </a:spcAft>
              <a:buClr>
                <a:schemeClr val="dk1"/>
              </a:buClr>
              <a:buSzPts val="1400"/>
              <a:buFont typeface="Calibri"/>
              <a:buChar char="–"/>
              <a:defRPr/>
            </a:lvl2pPr>
            <a:lvl3pPr marL="1371600" marR="0" indent="-317500" algn="l">
              <a:spcBef>
                <a:spcPts val="480"/>
              </a:spcBef>
              <a:spcAft>
                <a:spcPts val="0"/>
              </a:spcAft>
              <a:buClr>
                <a:schemeClr val="dk1"/>
              </a:buClr>
              <a:buSzPts val="1400"/>
              <a:buFont typeface="Calibri"/>
              <a:buChar char="•"/>
              <a:defRPr/>
            </a:lvl3pPr>
            <a:lvl4pPr marL="1828800" marR="0" indent="-317500" algn="l">
              <a:spcBef>
                <a:spcPts val="400"/>
              </a:spcBef>
              <a:spcAft>
                <a:spcPts val="0"/>
              </a:spcAft>
              <a:buClr>
                <a:schemeClr val="dk1"/>
              </a:buClr>
              <a:buSzPts val="1400"/>
              <a:buFont typeface="Calibri"/>
              <a:buChar char="–"/>
              <a:defRPr/>
            </a:lvl4pPr>
            <a:lvl5pPr marL="2286000" marR="0" indent="-317500" algn="l">
              <a:spcBef>
                <a:spcPts val="400"/>
              </a:spcBef>
              <a:spcAft>
                <a:spcPts val="0"/>
              </a:spcAft>
              <a:buClr>
                <a:schemeClr val="dk1"/>
              </a:buClr>
              <a:buSzPts val="1400"/>
              <a:buFont typeface="Calibri"/>
              <a:buChar char="»"/>
              <a:defRPr/>
            </a:lvl5pPr>
            <a:lvl6pPr marL="2743200" marR="0" indent="-317500" algn="l">
              <a:spcBef>
                <a:spcPts val="400"/>
              </a:spcBef>
              <a:spcAft>
                <a:spcPts val="0"/>
              </a:spcAft>
              <a:buClr>
                <a:schemeClr val="dk1"/>
              </a:buClr>
              <a:buSzPts val="1400"/>
              <a:buFont typeface="Calibri"/>
              <a:buChar char="•"/>
              <a:defRPr/>
            </a:lvl6pPr>
            <a:lvl7pPr marL="3200400" marR="0" indent="-317500" algn="l">
              <a:spcBef>
                <a:spcPts val="400"/>
              </a:spcBef>
              <a:spcAft>
                <a:spcPts val="0"/>
              </a:spcAft>
              <a:buClr>
                <a:schemeClr val="dk1"/>
              </a:buClr>
              <a:buSzPts val="1400"/>
              <a:buFont typeface="Calibri"/>
              <a:buChar char="•"/>
              <a:defRPr/>
            </a:lvl7pPr>
            <a:lvl8pPr marL="3657600" marR="0" indent="-317500" algn="l">
              <a:spcBef>
                <a:spcPts val="400"/>
              </a:spcBef>
              <a:spcAft>
                <a:spcPts val="0"/>
              </a:spcAft>
              <a:buClr>
                <a:schemeClr val="dk1"/>
              </a:buClr>
              <a:buSzPts val="1400"/>
              <a:buFont typeface="Calibri"/>
              <a:buChar char="•"/>
              <a:defRPr/>
            </a:lvl8pPr>
            <a:lvl9pPr marL="4114800" marR="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7C091732-2326-437D-B695-68BE11043E58}"/>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15E0E0F8-3547-402D-9087-3D830DE1AECA}"/>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11A3F8B4-4C98-4CCE-B5A8-8D48388BDD1A}"/>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
        <p:nvSpPr>
          <p:cNvPr id="11" name="Google Shape;11;p1">
            <a:extLst xmlns:a="http://schemas.openxmlformats.org/drawingml/2006/main">
              <a:ext uri="{FF2B5EF4-FFF2-40B4-BE49-F238E27FC236}">
                <a16:creationId xmlns:a16="http://schemas.microsoft.com/office/drawing/2014/main" id="{07941BC7-A620-4652-AC9A-703A2424118B}"/>
              </a:ext>
            </a:extLst>
          </p:cNvPr>
          <p:cNvSpPr>
            <a:spLocks xmlns:a="http://schemas.openxmlformats.org/drawingml/2006/main" noGrp="1"/>
          </p:cNvSpPr>
          <p:nvPr/>
        </p:nvSpPr>
        <p:spPr>
          <a:xfrm xmlns:a="http://schemas.openxmlformats.org/drawingml/2006/main">
            <a:off x="-14941" y="5056026"/>
            <a:ext cx="9180512" cy="108012"/>
          </a:xfrm>
          <a:prstGeom xmlns:a="http://schemas.openxmlformats.org/drawingml/2006/main" prst="rect">
            <a:avLst/>
          </a:prstGeom>
          <a:solidFill xmlns:a="http://schemas.openxmlformats.org/drawingml/2006/main">
            <a:srgbClr val="57068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9" name="Google Shape;12;p1"/>
          <p:cNvPicPr>
            <a:picLocks xmlns:a="http://schemas.openxmlformats.org/drawingml/2006/main" noChangeAspect="1"/>
          </p:cNvPicPr>
          <p:nvPr/>
        </p:nvPicPr>
        <p:blipFill>
          <a:blip xmlns:r="http://schemas.openxmlformats.org/officeDocument/2006/relationships" xmlns:a="http://schemas.openxmlformats.org/drawingml/2006/main" r:embed="R46ca6e7567b0478a">
            <a:alphaModFix/>
          </a:blip>
          <a:stretch xmlns:a="http://schemas.openxmlformats.org/drawingml/2006/main">
            <a:fillRect l="0" t="0" r="0" b="0"/>
          </a:stretch>
        </p:blipFill>
        <p:spPr>
          <a:xfrm xmlns:a="http://schemas.openxmlformats.org/drawingml/2006/main">
            <a:off x="7955675" y="0"/>
            <a:ext cx="1188326" cy="5796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b3a70f7d1d14eb0"/>
    <p:sldLayoutId xmlns:r="http://schemas.openxmlformats.org/officeDocument/2006/relationships" id="2147483650" r:id="Rf991ed01f5cb49df"/>
    <p:sldLayoutId xmlns:r="http://schemas.openxmlformats.org/officeDocument/2006/relationships" id="2147483651" r:id="Re4070ceb5db24d84"/>
    <p:sldLayoutId xmlns:r="http://schemas.openxmlformats.org/officeDocument/2006/relationships" id="2147483652" r:id="R9c1ac4deca8144cb"/>
    <p:sldLayoutId xmlns:r="http://schemas.openxmlformats.org/officeDocument/2006/relationships" id="2147483653" r:id="R394b1be328664bde"/>
    <p:sldLayoutId xmlns:r="http://schemas.openxmlformats.org/officeDocument/2006/relationships" id="2147483654" r:id="Rd831f69ed7f140ae"/>
    <p:sldLayoutId xmlns:r="http://schemas.openxmlformats.org/officeDocument/2006/relationships" id="2147483655" r:id="Re2be89102b474112"/>
    <p:sldLayoutId xmlns:r="http://schemas.openxmlformats.org/officeDocument/2006/relationships" id="2147483656" r:id="R56ebc1ee80f94d65"/>
    <p:sldLayoutId xmlns:r="http://schemas.openxmlformats.org/officeDocument/2006/relationships" id="2147483657" r:id="R05c8ec1897334351"/>
    <p:sldLayoutId xmlns:r="http://schemas.openxmlformats.org/officeDocument/2006/relationships" id="2147483658" r:id="Rcda54ab057ff43c4"/>
    <p:sldLayoutId xmlns:r="http://schemas.openxmlformats.org/officeDocument/2006/relationships" id="2147483659" r:id="R50f5505501504ef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fa0541686d4b7d" /><Relationship Type="http://schemas.openxmlformats.org/officeDocument/2006/relationships/notesSlide" Target="/ppt/notesSlides/notesSlide1.xml" Id="R1064b53c3c5249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7a159957d04281" /><Relationship Type="http://schemas.openxmlformats.org/officeDocument/2006/relationships/notesSlide" Target="/ppt/notesSlides/notesSlide2.xml" Id="R48677add2e7047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4b552febdb4fc6" /><Relationship Type="http://schemas.openxmlformats.org/officeDocument/2006/relationships/notesSlide" Target="/ppt/notesSlides/notesSlide3.xml" Id="Rd55eb1d7976145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23e9f4d3c24786" /><Relationship Type="http://schemas.openxmlformats.org/officeDocument/2006/relationships/chart" Target="/ppt/slides/charts/chart1.xml" Id="R8e455fe0b9904251" /><Relationship Type="http://schemas.openxmlformats.org/officeDocument/2006/relationships/notesSlide" Target="/ppt/notesSlides/notesSlide4.xml" Id="R6403e40ccdfb48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cb8ea830624a8e" /><Relationship Type="http://schemas.openxmlformats.org/officeDocument/2006/relationships/notesSlide" Target="/ppt/notesSlides/notesSlide5.xml" Id="R92b8650451ee4b7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Optical error</c:v>
          </c:tx>
          <c:spPr>
            <a:solidFill xmlns:a="http://schemas.openxmlformats.org/drawingml/2006/main">
              <a:srgbClr val="555555"/>
            </a:solidFill>
            <a:ln xmlns:a="http://schemas.openxmlformats.org/drawingml/2006/main" w="23813">
              <a:solidFill>
                <a:srgbClr val="555555"/>
              </a:solidFill>
            </a:ln>
          </c:spPr>
          <c:cat>
            <c:strRef>
              <c:f>'Chart Data'!$A$2:$A$4</c:f>
              <c:strCache>
                <c:ptCount val="3"/>
                <c:pt idx="0">
                  <c:v>Coherent</c:v>
                </c:pt>
                <c:pt idx="1">
                  <c:v>Independent squeezed</c:v>
                </c:pt>
                <c:pt idx="2">
                  <c:v>Distributed squeezed</c:v>
                </c:pt>
              </c:strCache>
            </c:strRef>
          </c:cat>
          <c:val>
            <c:numRef>
              <c:f>'Chart Data'!$B$2:$B$4</c:f>
              <c:numCache>
                <c:formatCode>0.##</c:formatCode>
                <c:ptCount val="3"/>
                <c:pt idx="0">
                  <c:v>0.07961902554</c:v>
                </c:pt>
                <c:pt idx="1">
                  <c:v>0.0647329637</c:v>
                </c:pt>
                <c:pt idx="2">
                  <c:v>0.04758283976</c:v>
                </c:pt>
              </c:numCache>
            </c:numRef>
          </c:val>
        </c:ser>
        <c:ser>
          <c:idx val="1"/>
          <c:order val="1"/>
          <c:tx>
            <c:v>Total error</c:v>
          </c:tx>
          <c:spPr>
            <a:solidFill xmlns:a="http://schemas.openxmlformats.org/drawingml/2006/main">
              <a:srgbClr val="16877B"/>
            </a:solidFill>
            <a:ln xmlns:a="http://schemas.openxmlformats.org/drawingml/2006/main" w="23813">
              <a:solidFill>
                <a:srgbClr val="16877B"/>
              </a:solidFill>
            </a:ln>
          </c:spPr>
          <c:cat>
            <c:strRef>
              <c:f>'Chart Data'!$C$2:$C$4</c:f>
              <c:strCache>
                <c:ptCount val="3"/>
                <c:pt idx="0">
                  <c:v>Coherent</c:v>
                </c:pt>
                <c:pt idx="1">
                  <c:v>Independent squeezed</c:v>
                </c:pt>
                <c:pt idx="2">
                  <c:v>Distributed squeezed</c:v>
                </c:pt>
              </c:strCache>
            </c:strRef>
          </c:cat>
          <c:val>
            <c:numRef>
              <c:f>'Chart Data'!$D$2:$D$4</c:f>
              <c:numCache>
                <c:formatCode>0.##</c:formatCode>
                <c:ptCount val="3"/>
                <c:pt idx="0">
                  <c:v>0.09210106368</c:v>
                </c:pt>
                <c:pt idx="1">
                  <c:v>0.0795850067</c:v>
                </c:pt>
                <c:pt idx="2">
                  <c:v>0.06638933154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05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050">
                    <a:solidFill>
                      <a:srgbClr val="333333"/>
                    </a:solidFill>
                    <a:latin typeface="Arial"/>
                    <a:ea typeface="Arial"/>
                    <a:cs typeface="Arial"/>
                  </a:rPr>
                  <a:t>RMSE (mg/kg)</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22222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 name="Google Shape;86;p13">
            <a:extLst xmlns:a="http://schemas.openxmlformats.org/drawingml/2006/main">
              <a:ext uri="{FF2B5EF4-FFF2-40B4-BE49-F238E27FC236}">
                <a16:creationId xmlns:a16="http://schemas.microsoft.com/office/drawing/2014/main" id="{CA35D4E5-05DB-40AF-A591-6DFE5AC3BC7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400" b="1">
                <a:solidFill>
                  <a:schemeClr val="dk1"/>
                </a:solidFill>
              </a:rPr>
              <a:t/>
            </a:r>
            <a:endParaRPr sz="3600" b="1">
              <a:solidFill>
                <a:schemeClr val="dk1"/>
              </a:solidFill>
            </a:endParaRPr>
          </a:p>
        </p:txBody>
      </p:sp>
      <p:sp>
        <p:nvSpPr>
          <p:cNvPr id="87" name="Google Shape;87;p13">
            <a:extLst xmlns:a="http://schemas.openxmlformats.org/drawingml/2006/main">
              <a:ext uri="{FF2B5EF4-FFF2-40B4-BE49-F238E27FC236}">
                <a16:creationId xmlns:a16="http://schemas.microsoft.com/office/drawing/2014/main" id="{E869C281-6223-4A7F-A2C0-FD50E06D3304}"/>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8" name="Google Shape;88;p13">
            <a:extLst xmlns:a="http://schemas.openxmlformats.org/drawingml/2006/main">
              <a:ext uri="{FF2B5EF4-FFF2-40B4-BE49-F238E27FC236}">
                <a16:creationId xmlns:a16="http://schemas.microsoft.com/office/drawing/2014/main" id="{94CDFF7E-6D91-4823-99F4-F1B5310F6B00}"/>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9" name="Google Shape;89;p13">
            <a:extLst xmlns:a="http://schemas.openxmlformats.org/drawingml/2006/main">
              <a:ext uri="{FF2B5EF4-FFF2-40B4-BE49-F238E27FC236}">
                <a16:creationId xmlns:a16="http://schemas.microsoft.com/office/drawing/2014/main" id="{F82A1EA0-940E-4317-9C08-7EE3A6F589CC}"/>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a:solidFill>
                  <a:srgbClr val="B7B7B7"/>
                </a:solidFill>
              </a:rPr>
              <a:t/>
            </a:r>
            <a:endParaRPr>
              <a:solidFill>
                <a:srgbClr val="B7B7B7"/>
              </a:solidFill>
            </a:endParaRPr>
          </a:p>
        </p:txBody>
      </p:sp>
      <p:sp>
        <p:nvSpPr>
          <p:cNvPr id="90" name="Google Shape;90;p13">
            <a:extLst xmlns:a="http://schemas.openxmlformats.org/drawingml/2006/main">
              <a:ext uri="{FF2B5EF4-FFF2-40B4-BE49-F238E27FC236}">
                <a16:creationId xmlns:a16="http://schemas.microsoft.com/office/drawing/2014/main" id="{2EA98A42-BD37-48EC-B92B-A326992AE0E0}"/>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600" b="1">
                <a:solidFill>
                  <a:schemeClr val="dk1"/>
                </a:solidFill>
              </a:rPr>
              <a:t/>
            </a:r>
            <a:endParaRPr sz="3600" b="1">
              <a:solidFill>
                <a:schemeClr val="dk1"/>
              </a:solidFill>
            </a:endParaRPr>
          </a:p>
        </p:txBody>
      </p:sp>
      <p:sp>
        <p:nvSpPr>
          <p:cNvPr id="91" name="Water-quality changes across sampling taps">
            <a:extLst xmlns:a="http://schemas.openxmlformats.org/drawingml/2006/main">
              <a:ext uri="{FF2B5EF4-FFF2-40B4-BE49-F238E27FC236}">
                <a16:creationId xmlns:a16="http://schemas.microsoft.com/office/drawing/2014/main" id="{6E283C33-ED7A-4262-B784-EC4B724F69CF}"/>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Water-quality changes across sampling taps</a:t>
            </a:r>
          </a:p>
        </p:txBody>
      </p:sp>
      <p:sp>
        <p:nvSpPr>
          <p:cNvPr id="92" name="Team 7 • Ideation • SDG 6: Clean Water and Sa">
            <a:extLst xmlns:a="http://schemas.openxmlformats.org/drawingml/2006/main">
              <a:ext uri="{FF2B5EF4-FFF2-40B4-BE49-F238E27FC236}">
                <a16:creationId xmlns:a16="http://schemas.microsoft.com/office/drawing/2014/main" id="{46B4A3BE-B926-4EE8-8515-4D0D19B7B5CC}"/>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Team 7 • Ideation • SDG 6: Clean Water and Sanitation</a:t>
            </a:r>
          </a:p>
        </p:txBody>
      </p:sp>
      <p:sp>
        <p:nvSpPr>
          <p:cNvPr id="93" name="UN 2025: poorest regions supplied 60,000 of ~">
            <a:extLst xmlns:a="http://schemas.openxmlformats.org/drawingml/2006/main">
              <a:ext uri="{FF2B5EF4-FFF2-40B4-BE49-F238E27FC236}">
                <a16:creationId xmlns:a16="http://schemas.microsoft.com/office/drawing/2014/main" id="{575F8B8A-C59D-4BA7-95F1-FAD608DA6FA6}"/>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UN 2025: poorest regions supplied 60,000 of ~2 million reporting measurements.</a:t>
            </a:r>
          </a:p>
        </p:txBody>
      </p:sp>
      <p:sp>
        <p:nvSpPr>
          <p:cNvPr id="94" name="EPA: online monitoring supports investigation">
            <a:extLst xmlns:a="http://schemas.openxmlformats.org/drawingml/2006/main">
              <a:ext uri="{FF2B5EF4-FFF2-40B4-BE49-F238E27FC236}">
                <a16:creationId xmlns:a16="http://schemas.microsoft.com/office/drawing/2014/main" id="{961F82AE-50CC-45A5-9C2A-C51F927138B0}"/>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EPA: online monitoring supports investigation and treatment decisions.</a:t>
            </a:r>
          </a:p>
        </p:txBody>
      </p:sp>
      <p:sp>
        <p:nvSpPr>
          <p:cNvPr id="95" name="Proposed user: a treatment/reuse operator tra">
            <a:extLst xmlns:a="http://schemas.openxmlformats.org/drawingml/2006/main">
              <a:ext uri="{FF2B5EF4-FFF2-40B4-BE49-F238E27FC236}">
                <a16:creationId xmlns:a16="http://schemas.microsoft.com/office/drawing/2014/main" id="{D1D6232C-4617-4DD9-B355-D8E64F5A0A92}"/>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Proposed user: a treatment/reuse operator tracking mean salt-proxy changes.</a:t>
            </a:r>
          </a:p>
        </p:txBody>
      </p:sp>
      <p:sp>
        <p:nvSpPr>
          <p:cNvPr id="96" name="SDG 6 motivation. Water saved, health benefit">
            <a:extLst xmlns:a="http://schemas.openxmlformats.org/drawingml/2006/main">
              <a:ext uri="{FF2B5EF4-FFF2-40B4-BE49-F238E27FC236}">
                <a16:creationId xmlns:a16="http://schemas.microsoft.com/office/drawing/2014/main" id="{CF221854-721E-4A85-9B9A-505490A7E77F}"/>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SDG 6 motivation. Water saved, health benefit and field performance are unmeasured.</a:t>
            </a:r>
          </a:p>
        </p:txBody>
      </p:sp>
      <p:sp>
        <p:nvSpPr>
          <p:cNvPr id="97" name="TEAM 7  •  IDEATION / SIMULATION">
            <a:extLst xmlns:a="http://schemas.openxmlformats.org/drawingml/2006/main">
              <a:ext uri="{FF2B5EF4-FFF2-40B4-BE49-F238E27FC236}">
                <a16:creationId xmlns:a16="http://schemas.microsoft.com/office/drawing/2014/main" id="{8D7697D7-DF0F-4DAC-BBAB-0BDABB362454}"/>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98" name="1 / 5">
            <a:extLst xmlns:a="http://schemas.openxmlformats.org/drawingml/2006/main">
              <a:ext uri="{FF2B5EF4-FFF2-40B4-BE49-F238E27FC236}">
                <a16:creationId xmlns:a16="http://schemas.microsoft.com/office/drawing/2014/main" id="{6C3E1614-3AF2-428D-A78F-7F1C08B101FD}"/>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1 / 5</a:t>
            </a:r>
          </a:p>
        </p:txBody>
      </p:sp>
    </p:spTree>
    <p:extLst>
      <p:ext uri="{BB962C8B-B14F-4D97-AF65-F5344CB8AC3E}">
        <p14:creationId xmlns:p14="http://schemas.microsoft.com/office/powerpoint/2010/main" val="9346269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Google Shape;95;p14">
            <a:extLst xmlns:a="http://schemas.openxmlformats.org/drawingml/2006/main">
              <a:ext uri="{FF2B5EF4-FFF2-40B4-BE49-F238E27FC236}">
                <a16:creationId xmlns:a16="http://schemas.microsoft.com/office/drawing/2014/main" id="{7B54057F-87B0-42D5-A981-5EB527EEF4B1}"/>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lnSpc>
                <a:spcPct val="115000"/>
              </a:lnSpc>
              <a:spcBef>
                <a:spcPts val="0"/>
              </a:spcBef>
              <a:spcAft>
                <a:spcPts val="0"/>
              </a:spcAft>
              <a:buClr>
                <a:schemeClr val="dk1"/>
              </a:buClr>
              <a:buSzPts val="1800"/>
              <a:buFont typeface="Arial"/>
              <a:buNone/>
            </a:pPr>
            <a:r>
              <a:rPr sz="3600" b="1">
                <a:solidFill>
                  <a:schemeClr val="dk1"/>
                </a:solidFill>
              </a:rPr>
              <a:t/>
            </a:r>
            <a:endParaRPr sz="3600" b="1"/>
          </a:p>
        </p:txBody>
      </p:sp>
      <p:sp>
        <p:nvSpPr>
          <p:cNvPr id="96" name="Google Shape;96;p14">
            <a:extLst xmlns:a="http://schemas.openxmlformats.org/drawingml/2006/main">
              <a:ext uri="{FF2B5EF4-FFF2-40B4-BE49-F238E27FC236}">
                <a16:creationId xmlns:a16="http://schemas.microsoft.com/office/drawing/2014/main" id="{CAD82C56-6250-4F97-9AB1-398A138327B5}"/>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chemeClr val="dk1"/>
              </a:buClr>
              <a:buFont typeface="Arial"/>
              <a:buNone/>
            </a:pPr>
            <a:r>
              <a:rPr sz="3600" b="1">
                <a:solidFill>
                  <a:schemeClr val="dk1"/>
                </a:solidFill>
              </a:rPr>
              <a:t/>
            </a:r>
            <a:endParaRPr sz="3600" b="1">
              <a:solidFill>
                <a:schemeClr val="dk1"/>
              </a:solidFill>
            </a:endParaRPr>
          </a:p>
        </p:txBody>
      </p:sp>
      <p:sp>
        <p:nvSpPr>
          <p:cNvPr id="97" name="Google Shape;97;p14">
            <a:extLst xmlns:a="http://schemas.openxmlformats.org/drawingml/2006/main">
              <a:ext uri="{FF2B5EF4-FFF2-40B4-BE49-F238E27FC236}">
                <a16:creationId xmlns:a16="http://schemas.microsoft.com/office/drawing/2014/main" id="{40114B03-13AB-4885-83CD-784B5116E76E}"/>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1600" b="1"/>
              <a:t/>
            </a:r>
            <a:endParaRPr sz="1600" b="1"/>
          </a:p>
        </p:txBody>
      </p:sp>
      <p:sp>
        <p:nvSpPr>
          <p:cNvPr id="98" name="Google Shape;98;p14">
            <a:extLst xmlns:a="http://schemas.openxmlformats.org/drawingml/2006/main">
              <a:ext uri="{FF2B5EF4-FFF2-40B4-BE49-F238E27FC236}">
                <a16:creationId xmlns:a16="http://schemas.microsoft.com/office/drawing/2014/main" id="{B1535523-D913-4653-A387-0ACD670F13CF}"/>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i="0" u="none" cap="none">
                <a:solidFill>
                  <a:srgbClr val="000000"/>
                </a:solidFill>
                <a:latin typeface="Arial"/>
                <a:ea typeface="Arial"/>
                <a:cs typeface="Arial"/>
              </a:rPr>
              <a:t/>
            </a:r>
            <a:endParaRPr sz="3600" b="1"/>
          </a:p>
        </p:txBody>
      </p:sp>
      <p:sp>
        <p:nvSpPr>
          <p:cNvPr id="99" name="Proposed solution: correlated optical sensing">
            <a:extLst xmlns:a="http://schemas.openxmlformats.org/drawingml/2006/main">
              <a:ext uri="{FF2B5EF4-FFF2-40B4-BE49-F238E27FC236}">
                <a16:creationId xmlns:a16="http://schemas.microsoft.com/office/drawing/2014/main" id="{CB9440AB-3427-42A1-86FE-4CDB4A224EBD}"/>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Proposed solution: correlated optical sensing</a:t>
            </a:r>
          </a:p>
        </p:txBody>
      </p:sp>
      <p:sp>
        <p:nvSpPr>
          <p:cNvPr id="100" name="Squeezed light → water taps → homodyne readou">
            <a:extLst xmlns:a="http://schemas.openxmlformats.org/drawingml/2006/main">
              <a:ext uri="{FF2B5EF4-FFF2-40B4-BE49-F238E27FC236}">
                <a16:creationId xmlns:a16="http://schemas.microsoft.com/office/drawing/2014/main" id="{47446697-BBB0-46F9-B257-A99183B8C86C}"/>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Squeezed light → water taps → homodyne readout → mean-change estimate</a:t>
            </a:r>
          </a:p>
        </p:txBody>
      </p:sp>
      <p:sp>
        <p:nvSpPr>
          <p:cNvPr id="101" name="Measure dissolved-salt changes through refrac">
            <a:extLst xmlns:a="http://schemas.openxmlformats.org/drawingml/2006/main">
              <a:ext uri="{FF2B5EF4-FFF2-40B4-BE49-F238E27FC236}">
                <a16:creationId xmlns:a16="http://schemas.microsoft.com/office/drawing/2014/main" id="{D3B45202-72EE-4587-95B0-5C974307CD33}"/>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Measure dissolved-salt changes through refractive index at 1550 nm.</a:t>
            </a:r>
          </a:p>
        </p:txBody>
      </p:sp>
      <p:sp>
        <p:nvSpPr>
          <p:cNvPr id="102" name="Distribute one squeezed mode: correlated nois">
            <a:extLst xmlns:a="http://schemas.openxmlformats.org/drawingml/2006/main">
              <a:ext uri="{FF2B5EF4-FFF2-40B4-BE49-F238E27FC236}">
                <a16:creationId xmlns:a16="http://schemas.microsoft.com/office/drawing/2014/main" id="{03A016FD-5A92-4C42-93F3-55553AA2A1D1}"/>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Distribute one squeezed mode: correlated noise cancels partly in the mean.</a:t>
            </a:r>
          </a:p>
        </p:txBody>
      </p:sp>
      <p:sp>
        <p:nvSpPr>
          <p:cNvPr id="103" name="Our addition: a water-proxy feasibility model">
            <a:extLst xmlns:a="http://schemas.openxmlformats.org/drawingml/2006/main">
              <a:ext uri="{FF2B5EF4-FFF2-40B4-BE49-F238E27FC236}">
                <a16:creationId xmlns:a16="http://schemas.microsoft.com/office/drawing/2014/main" id="{F8CFA019-EEED-47F8-BCC9-42652E7089AA}"/>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Our addition: a water-proxy feasibility model with loss, drift and fair baselines.</a:t>
            </a:r>
          </a:p>
        </p:txBody>
      </p:sp>
      <p:sp>
        <p:nvSpPr>
          <p:cNvPr id="104" name="Quantum sensing advantage is proposed; no qua">
            <a:extLst xmlns:a="http://schemas.openxmlformats.org/drawingml/2006/main">
              <a:ext uri="{FF2B5EF4-FFF2-40B4-BE49-F238E27FC236}">
                <a16:creationId xmlns:a16="http://schemas.microsoft.com/office/drawing/2014/main" id="{81C83ADF-8A8C-446D-8711-0945DDD6A9BC}"/>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Quantum sensing advantage is proposed; no quantum-computing speedup is claimed.</a:t>
            </a:r>
          </a:p>
        </p:txBody>
      </p:sp>
      <p:sp>
        <p:nvSpPr>
          <p:cNvPr id="105" name="TEAM 7  •  IDEATION / SIMULATION">
            <a:extLst xmlns:a="http://schemas.openxmlformats.org/drawingml/2006/main">
              <a:ext uri="{FF2B5EF4-FFF2-40B4-BE49-F238E27FC236}">
                <a16:creationId xmlns:a16="http://schemas.microsoft.com/office/drawing/2014/main" id="{21E36775-5E6B-4C4C-9B1D-A78267C71D42}"/>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06" name="2 / 5">
            <a:extLst xmlns:a="http://schemas.openxmlformats.org/drawingml/2006/main">
              <a:ext uri="{FF2B5EF4-FFF2-40B4-BE49-F238E27FC236}">
                <a16:creationId xmlns:a16="http://schemas.microsoft.com/office/drawing/2014/main" id="{B5EC32DC-7085-4500-AA47-45C8A2410F59}"/>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2 / 5</a:t>
            </a:r>
          </a:p>
        </p:txBody>
      </p:sp>
    </p:spTree>
    <p:extLst>
      <p:ext uri="{BB962C8B-B14F-4D97-AF65-F5344CB8AC3E}">
        <p14:creationId xmlns:p14="http://schemas.microsoft.com/office/powerpoint/2010/main" val="6312649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 name="Google Shape;103;p15">
            <a:extLst xmlns:a="http://schemas.openxmlformats.org/drawingml/2006/main">
              <a:ext uri="{FF2B5EF4-FFF2-40B4-BE49-F238E27FC236}">
                <a16:creationId xmlns:a16="http://schemas.microsoft.com/office/drawing/2014/main" id="{54F27128-3433-4706-88F2-8BACCA7B7299}"/>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200" b="1"/>
          </a:p>
        </p:txBody>
      </p:sp>
      <p:sp>
        <p:nvSpPr>
          <p:cNvPr id="104" name="Google Shape;104;p15">
            <a:extLst xmlns:a="http://schemas.openxmlformats.org/drawingml/2006/main">
              <a:ext uri="{FF2B5EF4-FFF2-40B4-BE49-F238E27FC236}">
                <a16:creationId xmlns:a16="http://schemas.microsoft.com/office/drawing/2014/main" id="{71D004C0-20CB-464C-B89B-66594D3E2FE5}"/>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a:solidFill>
                <a:srgbClr val="B7B7B7"/>
              </a:solidFill>
            </a:endParaRPr>
          </a:p>
        </p:txBody>
      </p:sp>
      <p:sp>
        <p:nvSpPr>
          <p:cNvPr id="105" name="Google Shape;105;p15">
            <a:extLst xmlns:a="http://schemas.openxmlformats.org/drawingml/2006/main">
              <a:ext uri="{FF2B5EF4-FFF2-40B4-BE49-F238E27FC236}">
                <a16:creationId xmlns:a16="http://schemas.microsoft.com/office/drawing/2014/main" id="{5E42338B-B1D4-4440-BE7B-0F10246EBE59}"/>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i="0" u="none" cap="none">
              <a:solidFill>
                <a:srgbClr val="B7B7B7"/>
              </a:solidFill>
            </a:endParaRPr>
          </a:p>
        </p:txBody>
      </p:sp>
      <p:sp>
        <p:nvSpPr>
          <p:cNvPr id="106" name="How the simulation runs">
            <a:extLst xmlns:a="http://schemas.openxmlformats.org/drawingml/2006/main">
              <a:ext uri="{FF2B5EF4-FFF2-40B4-BE49-F238E27FC236}">
                <a16:creationId xmlns:a16="http://schemas.microsoft.com/office/drawing/2014/main" id="{C2EB3E8A-90F1-4908-A2FC-C529E2CE7235}"/>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How the simulation runs</a:t>
            </a:r>
          </a:p>
        </p:txBody>
      </p:sp>
      <p:sp>
        <p:nvSpPr>
          <p:cNvPr id="107" name="Classical CPU computation of a proposed quant">
            <a:extLst xmlns:a="http://schemas.openxmlformats.org/drawingml/2006/main">
              <a:ext uri="{FF2B5EF4-FFF2-40B4-BE49-F238E27FC236}">
                <a16:creationId xmlns:a16="http://schemas.microsoft.com/office/drawing/2014/main" id="{A8CDAF33-17BB-4971-B844-0D5112D425CB}"/>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Classical CPU computation of a proposed quantum optical sensor</a:t>
            </a:r>
          </a:p>
        </p:txBody>
      </p:sp>
      <p:sp>
        <p:nvSpPr>
          <p:cNvPr id="108" name="Python 3.12: NumPy, SciPy, pandas and Matplot">
            <a:extLst xmlns:a="http://schemas.openxmlformats.org/drawingml/2006/main">
              <a:ext uri="{FF2B5EF4-FFF2-40B4-BE49-F238E27FC236}">
                <a16:creationId xmlns:a16="http://schemas.microsoft.com/office/drawing/2014/main" id="{282CCDEF-B9C6-445C-AD6F-C9838100EED5}"/>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Python 3.12: NumPy, SciPy, pandas and Matplotlib. CPU simulation.</a:t>
            </a:r>
          </a:p>
        </p:txBody>
      </p:sp>
      <p:sp>
        <p:nvSpPr>
          <p:cNvPr id="109" name="Inputs: configuration, 64-site geometry and s">
            <a:extLst xmlns:a="http://schemas.openxmlformats.org/drawingml/2006/main">
              <a:ext uri="{FF2B5EF4-FFF2-40B4-BE49-F238E27FC236}">
                <a16:creationId xmlns:a16="http://schemas.microsoft.com/office/drawing/2014/main" id="{82C90103-207F-48FE-948C-6F6F3D1B2D26}"/>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Inputs: configuration, 64-site geometry and synthetic salt-change signals.</a:t>
            </a:r>
          </a:p>
        </p:txBody>
      </p:sp>
      <p:sp>
        <p:nvSpPr>
          <p:cNvPr id="110" name="Method: optical covariance, mean RMSE, drift ">
            <a:extLst xmlns:a="http://schemas.openxmlformats.org/drawingml/2006/main">
              <a:ext uri="{FF2B5EF4-FFF2-40B4-BE49-F238E27FC236}">
                <a16:creationId xmlns:a16="http://schemas.microsoft.com/office/drawing/2014/main" id="{39A2DB36-058C-4041-B4AC-7CDF56027476}"/>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Method: optical covariance, mean RMSE, drift and Gaussian detection tests.</a:t>
            </a:r>
          </a:p>
        </p:txBody>
      </p:sp>
      <p:sp>
        <p:nvSpPr>
          <p:cNvPr id="111" name="Outputs: JSON/CSV, ten figures. Seed 2601006;">
            <a:extLst xmlns:a="http://schemas.openxmlformats.org/drawingml/2006/main">
              <a:ext uri="{FF2B5EF4-FFF2-40B4-BE49-F238E27FC236}">
                <a16:creationId xmlns:a16="http://schemas.microsoft.com/office/drawing/2014/main" id="{71EEA169-A60B-4848-ABA0-BAED96DBB0CD}"/>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Outputs: JSON/CSV, ten figures. Seed 2601006; 13 checks. Hardware remains proposed.</a:t>
            </a:r>
          </a:p>
        </p:txBody>
      </p:sp>
      <p:sp>
        <p:nvSpPr>
          <p:cNvPr id="112" name="TEAM 7  •  IDEATION / SIMULATION">
            <a:extLst xmlns:a="http://schemas.openxmlformats.org/drawingml/2006/main">
              <a:ext uri="{FF2B5EF4-FFF2-40B4-BE49-F238E27FC236}">
                <a16:creationId xmlns:a16="http://schemas.microsoft.com/office/drawing/2014/main" id="{5D39ACEC-3E0A-4242-9DCF-E83B5B5F807E}"/>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13" name="3 / 5">
            <a:extLst xmlns:a="http://schemas.openxmlformats.org/drawingml/2006/main">
              <a:ext uri="{FF2B5EF4-FFF2-40B4-BE49-F238E27FC236}">
                <a16:creationId xmlns:a16="http://schemas.microsoft.com/office/drawing/2014/main" id="{D0C4A191-BBA7-4E92-B4D9-98BF37A62A53}"/>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3 / 5</a:t>
            </a:r>
          </a:p>
        </p:txBody>
      </p:sp>
    </p:spTree>
    <p:extLst>
      <p:ext uri="{BB962C8B-B14F-4D97-AF65-F5344CB8AC3E}">
        <p14:creationId xmlns:p14="http://schemas.microsoft.com/office/powerpoint/2010/main" val="17396154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 name="Google Shape;110;p16">
            <a:extLst xmlns:a="http://schemas.openxmlformats.org/drawingml/2006/main">
              <a:ext uri="{FF2B5EF4-FFF2-40B4-BE49-F238E27FC236}">
                <a16:creationId xmlns:a16="http://schemas.microsoft.com/office/drawing/2014/main" id="{9F76C4AA-BC31-4288-A484-3F186C63CF9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1" name="Google Shape;111;p16">
            <a:extLst xmlns:a="http://schemas.openxmlformats.org/drawingml/2006/main">
              <a:ext uri="{FF2B5EF4-FFF2-40B4-BE49-F238E27FC236}">
                <a16:creationId xmlns:a16="http://schemas.microsoft.com/office/drawing/2014/main" id="{B6309349-CCBD-44B1-9C95-9B5986750EC4}"/>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2" name="Google Shape;112;p16">
            <a:extLst xmlns:a="http://schemas.openxmlformats.org/drawingml/2006/main">
              <a:ext uri="{FF2B5EF4-FFF2-40B4-BE49-F238E27FC236}">
                <a16:creationId xmlns:a16="http://schemas.microsoft.com/office/drawing/2014/main" id="{2A97FB4D-7E06-48D1-B1B7-06EBE0E839AA}"/>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rPr sz="1000" b="1"/>
              <a:t/>
            </a:r>
            <a:endParaRPr sz="1000" b="1"/>
          </a:p>
        </p:txBody>
      </p:sp>
      <p:sp>
        <p:nvSpPr>
          <p:cNvPr id="113" name="Current result: 28% lower modeled error">
            <a:extLst xmlns:a="http://schemas.openxmlformats.org/drawingml/2006/main">
              <a:ext uri="{FF2B5EF4-FFF2-40B4-BE49-F238E27FC236}">
                <a16:creationId xmlns:a16="http://schemas.microsoft.com/office/drawing/2014/main" id="{40D5662C-464C-4E67-81F2-C547104BBDA1}"/>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Current result: 28% lower modeled error</a:t>
            </a:r>
          </a:p>
        </p:txBody>
      </p:sp>
      <p:sp>
        <p:nvSpPr>
          <p:cNvPr id="114" name="Assumed 16 taps, 100 m links, 10 nW/tap, 1 s ">
            <a:extLst xmlns:a="http://schemas.openxmlformats.org/drawingml/2006/main">
              <a:ext uri="{FF2B5EF4-FFF2-40B4-BE49-F238E27FC236}">
                <a16:creationId xmlns:a16="http://schemas.microsoft.com/office/drawing/2014/main" id="{D8E5C57C-BC59-4415-9429-E824D705F081}"/>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Assumed 16 taps, 100 m links, 10 nW/tap, 1 s and 50 µK residual</a:t>
            </a:r>
          </a:p>
        </p:txBody>
      </p:sp>
      <p:graphicFrame>
        <p:nvGraphicFramePr>
          <p:cNvPr id="125" name="Chart"/>
          <p:cNvGraphicFramePr/>
          <p:nvPr/>
        </p:nvGraphicFramePr>
        <p:xfrm>
          <a:off xmlns:a="http://schemas.openxmlformats.org/drawingml/2006/main" x="619125" y="1724025"/>
          <a:ext xmlns:a="http://schemas.openxmlformats.org/drawingml/2006/main" cx="7886700" cy="2428875"/>
        </p:xfrm>
        <a:graphic xmlns:a="http://schemas.openxmlformats.org/drawingml/2006/main">
          <a:graphicData uri="http://schemas.openxmlformats.org/drawingml/2006/chart">
            <c:chart xmlns:r="http://schemas.openxmlformats.org/officeDocument/2006/relationships" xmlns:c="http://schemas.openxmlformats.org/drawingml/2006/chart" r:id="R8e455fe0b9904251"/>
          </a:graphicData>
        </a:graphic>
      </p:graphicFrame>
      <p:sp>
        <p:nvSpPr>
          <p:cNvPr id="116" name="Total RMSE: 0.0921 → 0.0664 mg/kg; optical pr">
            <a:extLst xmlns:a="http://schemas.openxmlformats.org/drawingml/2006/main">
              <a:ext uri="{FF2B5EF4-FFF2-40B4-BE49-F238E27FC236}">
                <a16:creationId xmlns:a16="http://schemas.microsoft.com/office/drawing/2014/main" id="{D0797604-E7A7-4C75-B60C-F08A90BD1546}"/>
              </a:ext>
            </a:extLst>
          </p:cNvPr>
          <p:cNvSpPr>
            <a:spLocks xmlns:a="http://schemas.openxmlformats.org/drawingml/2006/main" noGrp="1"/>
          </p:cNvSpPr>
          <p:nvPr/>
        </p:nvSpPr>
        <p:spPr>
          <a:xfrm xmlns:a="http://schemas.openxmlformats.org/drawingml/2006/main">
            <a:off x="628650" y="4248150"/>
            <a:ext cx="788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7068C"/>
                </a:solidFill>
                <a:latin typeface="Arial"/>
                <a:ea typeface="Arial"/>
                <a:cs typeface="Arial"/>
              </a:defRPr>
            </a:pPr>
            <a:r>
              <a:rPr sz="1350" b="1">
                <a:solidFill>
                  <a:srgbClr val="57068C"/>
                </a:solidFill>
                <a:latin typeface="Arial"/>
                <a:ea typeface="Arial"/>
                <a:cs typeface="Arial"/>
              </a:rPr>
              <a:t>Total RMSE: 0.0921 → 0.0664 mg/kg; optical precision improves 1.67×</a:t>
            </a:r>
          </a:p>
        </p:txBody>
      </p:sp>
      <p:sp>
        <p:nvSpPr>
          <p:cNvPr id="117" name="64-site gain is only 1.11×; at 10 mK drift, u">
            <a:extLst xmlns:a="http://schemas.openxmlformats.org/drawingml/2006/main">
              <a:ext uri="{FF2B5EF4-FFF2-40B4-BE49-F238E27FC236}">
                <a16:creationId xmlns:a16="http://schemas.microsoft.com/office/drawing/2014/main" id="{018498EC-39D6-4EEE-94C9-F3BF6EE6253D}"/>
              </a:ext>
            </a:extLst>
          </p:cNvPr>
          <p:cNvSpPr>
            <a:spLocks xmlns:a="http://schemas.openxmlformats.org/drawingml/2006/main" noGrp="1"/>
          </p:cNvSpPr>
          <p:nvPr/>
        </p:nvSpPr>
        <p:spPr>
          <a:xfrm xmlns:a="http://schemas.openxmlformats.org/drawingml/2006/main">
            <a:off x="628650" y="4514850"/>
            <a:ext cx="788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44444"/>
                </a:solidFill>
                <a:latin typeface="Arial"/>
                <a:ea typeface="Arial"/>
                <a:cs typeface="Arial"/>
              </a:defRPr>
            </a:pPr>
            <a:r>
              <a:rPr sz="1350" b="0">
                <a:solidFill>
                  <a:srgbClr val="444444"/>
                </a:solidFill>
                <a:latin typeface="Arial"/>
                <a:ea typeface="Arial"/>
                <a:cs typeface="Arial"/>
              </a:rPr>
              <a:t>64-site gain is only 1.11×; at 10 mK drift, useful advantage disappears</a:t>
            </a:r>
          </a:p>
        </p:txBody>
      </p:sp>
      <p:sp>
        <p:nvSpPr>
          <p:cNvPr id="118" name="TEAM 7  •  IDEATION / SIMULATION">
            <a:extLst xmlns:a="http://schemas.openxmlformats.org/drawingml/2006/main">
              <a:ext uri="{FF2B5EF4-FFF2-40B4-BE49-F238E27FC236}">
                <a16:creationId xmlns:a16="http://schemas.microsoft.com/office/drawing/2014/main" id="{F46EB358-3B4F-4C33-BA6B-17CD88A14130}"/>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19" name="4 / 5">
            <a:extLst xmlns:a="http://schemas.openxmlformats.org/drawingml/2006/main">
              <a:ext uri="{FF2B5EF4-FFF2-40B4-BE49-F238E27FC236}">
                <a16:creationId xmlns:a16="http://schemas.microsoft.com/office/drawing/2014/main" id="{6A9851C3-3E73-4EEE-AFF4-FA335173B54A}"/>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4 / 5</a:t>
            </a:r>
          </a:p>
        </p:txBody>
      </p:sp>
    </p:spTree>
    <p:extLst>
      <p:ext uri="{BB962C8B-B14F-4D97-AF65-F5344CB8AC3E}">
        <p14:creationId xmlns:p14="http://schemas.microsoft.com/office/powerpoint/2010/main" val="15207084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Google Shape;117;p17">
            <a:extLst xmlns:a="http://schemas.openxmlformats.org/drawingml/2006/main">
              <a:ext uri="{FF2B5EF4-FFF2-40B4-BE49-F238E27FC236}">
                <a16:creationId xmlns:a16="http://schemas.microsoft.com/office/drawing/2014/main" id="{972AB70B-4FFE-4F64-83B6-B7221662614D}"/>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8" name="Google Shape;118;p17">
            <a:extLst xmlns:a="http://schemas.openxmlformats.org/drawingml/2006/main">
              <a:ext uri="{FF2B5EF4-FFF2-40B4-BE49-F238E27FC236}">
                <a16:creationId xmlns:a16="http://schemas.microsoft.com/office/drawing/2014/main" id="{9F0019D9-71A4-467E-9FE5-64D097F86205}"/>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9" name="Google Shape;119;p17">
            <a:extLst xmlns:a="http://schemas.openxmlformats.org/drawingml/2006/main">
              <a:ext uri="{FF2B5EF4-FFF2-40B4-BE49-F238E27FC236}">
                <a16:creationId xmlns:a16="http://schemas.microsoft.com/office/drawing/2014/main" id="{D4FE1DAF-47D5-4FC7-B529-B49D09DE0666}"/>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t/>
            </a:r>
            <a:endParaRPr sz="1000" b="1"/>
          </a:p>
        </p:txBody>
      </p:sp>
      <p:sp>
        <p:nvSpPr>
          <p:cNvPr id="120" name="Impact, sustainability and next steps">
            <a:extLst xmlns:a="http://schemas.openxmlformats.org/drawingml/2006/main">
              <a:ext uri="{FF2B5EF4-FFF2-40B4-BE49-F238E27FC236}">
                <a16:creationId xmlns:a16="http://schemas.microsoft.com/office/drawing/2014/main" id="{218223D9-CFA4-400A-8423-DCAFFAC40F95}"/>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Impact, sustainability and next steps</a:t>
            </a:r>
          </a:p>
        </p:txBody>
      </p:sp>
      <p:sp>
        <p:nvSpPr>
          <p:cNvPr id="121" name="Three measurable KPIs • A laboratory pilot be">
            <a:extLst xmlns:a="http://schemas.openxmlformats.org/drawingml/2006/main">
              <a:ext uri="{FF2B5EF4-FFF2-40B4-BE49-F238E27FC236}">
                <a16:creationId xmlns:a16="http://schemas.microsoft.com/office/drawing/2014/main" id="{D22F1F3E-306D-4F6B-9454-844B8A639EA7}"/>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Three measurable KPIs • A laboratory pilot before deployment</a:t>
            </a:r>
          </a:p>
        </p:txBody>
      </p:sp>
      <p:sp>
        <p:nvSpPr>
          <p:cNvPr id="122" name="Alternative: ~28 nW/tap coherent matches the ">
            <a:extLst xmlns:a="http://schemas.openxmlformats.org/drawingml/2006/main">
              <a:ext uri="{FF2B5EF4-FFF2-40B4-BE49-F238E27FC236}">
                <a16:creationId xmlns:a16="http://schemas.microsoft.com/office/drawing/2014/main" id="{1959FB27-0B55-4F86-8253-EA4078E356AE}"/>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Alternative: ~28 nW/tap coherent matches the 10 nW/tap distributed error.</a:t>
            </a:r>
          </a:p>
        </p:txBody>
      </p:sp>
      <p:sp>
        <p:nvSpPr>
          <p:cNvPr id="123" name="Monitoring: step detection 24% → 47% at 1% fa">
            <a:extLst xmlns:a="http://schemas.openxmlformats.org/drawingml/2006/main">
              <a:ext uri="{FF2B5EF4-FFF2-40B4-BE49-F238E27FC236}">
                <a16:creationId xmlns:a16="http://schemas.microsoft.com/office/drawing/2014/main" id="{827A12DC-83D8-47EC-AD50-E9E0DB8DF607}"/>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Monitoring: step detection 24% → 47% at 1% false alarm per decision; no liters saved yet.</a:t>
            </a:r>
          </a:p>
        </p:txBody>
      </p:sp>
      <p:sp>
        <p:nvSpPr>
          <p:cNvPr id="124" name="Resources: 160 nJ probe/window for both; tota">
            <a:extLst xmlns:a="http://schemas.openxmlformats.org/drawingml/2006/main">
              <a:ext uri="{FF2B5EF4-FFF2-40B4-BE49-F238E27FC236}">
                <a16:creationId xmlns:a16="http://schemas.microsoft.com/office/drawing/2014/main" id="{E5CBB29A-5057-4522-8BAA-2543A6ACBE0F}"/>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Resources: 160 nJ probe/window for both; total energy and cost remain unmeasured.</a:t>
            </a:r>
          </a:p>
        </p:txBody>
      </p:sp>
      <p:sp>
        <p:nvSpPr>
          <p:cNvPr id="125" name="Next: calibrate one cell, test four taps blin">
            <a:extLst xmlns:a="http://schemas.openxmlformats.org/drawingml/2006/main">
              <a:ext uri="{FF2B5EF4-FFF2-40B4-BE49-F238E27FC236}">
                <a16:creationId xmlns:a16="http://schemas.microsoft.com/office/drawing/2014/main" id="{E3411079-7756-4B78-8D7D-CDACCE3B4C5B}"/>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Next: calibrate one cell, test four taps blindly, then measure energy and alarm rates.</a:t>
            </a:r>
          </a:p>
        </p:txBody>
      </p:sp>
      <p:sp>
        <p:nvSpPr>
          <p:cNvPr id="126" name="TEAM 7  •  IDEATION / SIMULATION">
            <a:extLst xmlns:a="http://schemas.openxmlformats.org/drawingml/2006/main">
              <a:ext uri="{FF2B5EF4-FFF2-40B4-BE49-F238E27FC236}">
                <a16:creationId xmlns:a16="http://schemas.microsoft.com/office/drawing/2014/main" id="{422724E4-FA12-4331-8B15-5FE3A7969565}"/>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27" name="5 / 5">
            <a:extLst xmlns:a="http://schemas.openxmlformats.org/drawingml/2006/main">
              <a:ext uri="{FF2B5EF4-FFF2-40B4-BE49-F238E27FC236}">
                <a16:creationId xmlns:a16="http://schemas.microsoft.com/office/drawing/2014/main" id="{C4B7C581-65DF-4184-85E6-3FE786B14FD7}"/>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5 / 5</a:t>
            </a:r>
          </a:p>
        </p:txBody>
      </p:sp>
    </p:spTree>
    <p:extLst>
      <p:ext uri="{BB962C8B-B14F-4D97-AF65-F5344CB8AC3E}">
        <p14:creationId xmlns:p14="http://schemas.microsoft.com/office/powerpoint/2010/main" val="947243018"/>
      </p:ext>
    </p:extLst>
  </p:cSld>
</p:sld>
</file>

<file path=ppt/theme/theme1.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2026-10-07T15:56:26.2490000Z</dcterms:created>
  <dcterms:modified xsi:type="dcterms:W3CDTF">2026-10-07T15:56:26.2490000Z</dcterms:modified>
</coreProperties>
</file>